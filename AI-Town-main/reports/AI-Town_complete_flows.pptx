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075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AI-Town 完整系統流程與模擬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94560"/>
                </a:solidFill>
              </a:rPr>
              <a:t>從感知到記憶的完整數據追蹤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CB6E"/>
                </a:solidFill>
              </a:rPr>
              <a:t>認知科學理論基礎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2BEC3"/>
                </a:solidFill>
              </a:rPr>
              <a:t>Kahneman (2011)  雙歷程理論 — System 1 直覺 / System 2 深思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41330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2BEC3"/>
                </a:solidFill>
              </a:rPr>
              <a:t>Tulving (1972)   情節記憶與語意記憶 — STM 敘述 / LTM HAM命題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460857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2BEC3"/>
                </a:solidFill>
              </a:rPr>
              <a:t>Anderson &amp; Bower (1973)  HAM — 人類聯想記憶 5元組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508406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2BEC3"/>
                </a:solidFill>
              </a:rPr>
              <a:t>Anderson (1983)  擴散激活理論 — 記憶節點 BFS 傳播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555955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2BEC3"/>
                </a:solidFill>
              </a:rPr>
              <a:t>Diekelmann &amp; Born (2010)  睡眠鞏固 — STM→LTM 轉移整合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系統架構概覽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1612880" cy="603504"/>
          </a:xfrm>
          <a:prstGeom prst="rect">
            <a:avLst/>
          </a:prstGeom>
          <a:solidFill>
            <a:srgbClr val="E94560">
              <a:alpha val="12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Layer 1  進入層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23360" y="8961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clock.py  agent/manager.py  agent/interrupt.py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11612880" cy="603504"/>
          </a:xfrm>
          <a:prstGeom prst="rect">
            <a:avLst/>
          </a:prstGeom>
          <a:solidFill>
            <a:srgbClr val="0F3460">
              <a:alpha val="12000"/>
            </a:srgbClr>
          </a:solidFill>
          <a:ln w="254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Layer 2  協調層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15819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agent/agent.py  core/mental_state.py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11612880" cy="603504"/>
          </a:xfrm>
          <a:prstGeom prst="rect">
            <a:avLst/>
          </a:prstGeom>
          <a:solidFill>
            <a:srgbClr val="16213E">
              <a:alpha val="12000"/>
            </a:srgbClr>
          </a:solidFill>
          <a:ln w="254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</a:rPr>
              <a:t>Layer 3a 推論層（直覺）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0" y="22677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core/markov_engine.py  core/tick_value.py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11612880" cy="603504"/>
          </a:xfrm>
          <a:prstGeom prst="rect">
            <a:avLst/>
          </a:prstGeom>
          <a:solidFill>
            <a:srgbClr val="16213E">
              <a:alpha val="12000"/>
            </a:srgbClr>
          </a:solidFill>
          <a:ln w="254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</a:rPr>
              <a:t>Layer 3b 推論層（深思）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29535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core/memory_graph.py  model/prompt_builder.py  model/loader.py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11612880" cy="603504"/>
          </a:xfrm>
          <a:prstGeom prst="rect">
            <a:avLst/>
          </a:prstGeom>
          <a:solidFill>
            <a:srgbClr val="00B894">
              <a:alpha val="12000"/>
            </a:srgbClr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393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Layer 4  認知層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36393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core/character.py  core/memory_stm.py  core/memory_ltm.py  core/memory_graph.py  core/weight_adapter.py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297680"/>
            <a:ext cx="11612880" cy="603504"/>
          </a:xfrm>
          <a:prstGeom prst="rect">
            <a:avLst/>
          </a:prstGeom>
          <a:solidFill>
            <a:srgbClr val="6C5CE7">
              <a:alpha val="12000"/>
            </a:srgbClr>
          </a:solidFill>
          <a:ln w="254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57200" y="43251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Layer 5  模型層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43251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model/loader.py  Phi-3.5-Vision-Instruct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983480"/>
            <a:ext cx="11612880" cy="603504"/>
          </a:xfrm>
          <a:prstGeom prst="rect">
            <a:avLst/>
          </a:prstGeom>
          <a:solidFill>
            <a:srgbClr val="E17055">
              <a:alpha val="12000"/>
            </a:srgbClr>
          </a:solidFill>
          <a:ln w="254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57200" y="50109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7055"/>
                </a:solidFill>
              </a:rPr>
              <a:t>Layer 6  感知層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0" y="50109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observe/yolo_perception.py  observe/scene.py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5669280"/>
            <a:ext cx="11612880" cy="603504"/>
          </a:xfrm>
          <a:prstGeom prst="rect">
            <a:avLst/>
          </a:prstGeom>
          <a:solidFill>
            <a:srgbClr val="636E72">
              <a:alpha val="12000"/>
            </a:srgbClr>
          </a:solidFill>
          <a:ln w="25400">
            <a:solidFill>
              <a:srgbClr val="636E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57200" y="56967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E72"/>
                </a:solidFill>
              </a:rPr>
              <a:t>Layer 7  觀察層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23360" y="56967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observe/dashboard_html.py  reports/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</a:rPr>
              <a:t>Layer 1｜Tick 完整生命週期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8138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① Tick T 開始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83280" y="8138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clock.py 推進時間，觸發所有角色處理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3624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20040" y="14996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② 時鐘檢查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4996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force_wake（起床時間）/ force_sleep（23:00後）判斷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0482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20040" y="21854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③ 感知層更新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1854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YOLO偵測場景 → yolo_desc更新，interrupt_queue排入事件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27340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20040" y="28712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④ 中斷處理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8712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interrupt.py 評估事件強度 vs 行動鎖等級（0/1/2）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4198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5204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320040" y="35570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⑤ Phase 1 執行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5570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pending_action執行（對話/一般/多tick行動） → 寫STM turn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41056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2062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320040" y="42428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⑥ Phase 2 決策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42428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計算困惑度C → 選路徑（intuitive/deliberate） → 設定pending_action → 寫STM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47914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8920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320040" y="49286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⑦ STM 安全閥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9286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STM turns &gt; 50 → 觸發中途濃縮（midday consolidation）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54480" y="54772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55778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320040" y="56144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⑧ Tick T+1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0" y="56144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時鐘推進，回到①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36E72"/>
                </a:solidFill>
              </a:rPr>
              <a:t>行動鎖等級：等級2（不可中斷）= 對話、睡覺 ｜ 等級1（重要）= 賣咖啡、工作 ｜ 等級0（容易中斷）= 前往、散步、滑手機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2｜困惑度計算 — 公式與參數來源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solidFill>
            <a:srgbClr val="1A1A2E">
              <a:alpha val="95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 = w1·U + w2·K + w3·S    （w1=0.4, w2=0.3, w3=0.3）    來源：mental_state.py → compute_C()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749040" cy="5074920"/>
          </a:xfrm>
          <a:prstGeom prst="rect">
            <a:avLst/>
          </a:prstGeom>
          <a:solidFill>
            <a:srgbClr val="00B894">
              <a:alpha val="10000"/>
            </a:srgbClr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94"/>
                </a:solidFill>
              </a:rPr>
              <a:t>U — 不確定性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來源：Markov機率分布前兩名差距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gap = prob_rank1 − prob_rank2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U = max(0.0, 1.0 − gap × 2.0)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41985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範圍：0.0（確定）~ 1.0（不確定）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89534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範例：gap=0.25 → U=0.50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3708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       gap=0.05 → U=0.90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8463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       gap≥0.5  → U=0.0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1508760"/>
            <a:ext cx="3749040" cy="5074920"/>
          </a:xfrm>
          <a:prstGeom prst="rect">
            <a:avLst/>
          </a:prstGeom>
          <a:solidFill>
            <a:srgbClr val="E94560">
              <a:alpha val="10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389120" y="15361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</a:rPr>
              <a:t>K — 衝突程度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199339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來源：YOLO + 對話 + 行動 + 場景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34840" y="24688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邏輯衝突pair命中：+0.60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4840" y="294436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  （如「離開/走了」+正在「工作」）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34840" y="341985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強情緒關鍵字命中：+0.45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34840" y="389534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  （混亂、不知所措、思緒紊亂）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34840" y="43708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一般情緒關鍵字命中：+0.25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34840" y="48463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  （心跳、暗戀、告白、情緒複雜）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34840" y="532180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K上限：1.0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34840" y="579729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K ≥ 0.5 → 強制 deliberate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0" y="1508760"/>
            <a:ext cx="3749040" cy="5074920"/>
          </a:xfrm>
          <a:prstGeom prst="rect">
            <a:avLst/>
          </a:prstGeom>
          <a:solidFill>
            <a:srgbClr val="6C5CE7">
              <a:alpha val="10000"/>
            </a:srgbClr>
          </a:solidFill>
          <a:ln w="254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8321040" y="15361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</a:rPr>
              <a:t>S — 驚訝程度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199339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來源：scene_text vs LTM預期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66760" y="24688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LTM為空（第一天）→ S=0.0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66760" y="294436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陌生人/從沒見過：+0.60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366760" y="341985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第一次/從未：+0.50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66760" y="389534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意外/沒想到/不可思議：+0.35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66760" y="43708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突然：+0.25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66760" y="48463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S上限：1.0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2｜情緒調整閾值 + 模式決策邏輯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</a:rPr>
              <a:t>情緒對困惑度閾值的調整（adjust_threshold_by_emotion）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</a:rPr>
              <a:t>設計邏輯：心情差時容易直覺反應，更難深思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44752"/>
            <a:ext cx="219456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情緒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444752"/>
            <a:ext cx="219456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閾值調整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44752"/>
            <a:ext cx="219456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Amy最終閾值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平靜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0.45（Amy基礎）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2311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開心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2311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2311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0.45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6334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興奮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6334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6334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0.45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0358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CB6E"/>
                </a:solidFill>
              </a:rPr>
              <a:t>緊張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0358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0358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0.55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438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CB6E"/>
                </a:solidFill>
              </a:rPr>
              <a:t>不安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438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438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0.55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CB6E"/>
                </a:solidFill>
              </a:rPr>
              <a:t>困惑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0.55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2428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難過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42428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+0.15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428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0.60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6451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疲憊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46451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+0.15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6451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0.60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7498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</a:rPr>
              <a:t>模式決策邏輯（decide_mode 函式）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0" y="1234440"/>
            <a:ext cx="4297680" cy="960120"/>
          </a:xfrm>
          <a:prstGeom prst="rect">
            <a:avLst/>
          </a:prstGeom>
          <a:solidFill>
            <a:srgbClr val="E94560">
              <a:alpha val="12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7909560" y="12527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條件 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09560" y="15270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K ≥ 0.50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909560" y="18013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強制 deliberate  （不看C值，情緒衝突 override）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72400" y="2331720"/>
            <a:ext cx="4297680" cy="960120"/>
          </a:xfrm>
          <a:prstGeom prst="rect">
            <a:avLst/>
          </a:prstGeom>
          <a:solidFill>
            <a:srgbClr val="0F3460">
              <a:alpha val="12000"/>
            </a:srgbClr>
          </a:solidFill>
          <a:ln w="254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7909560" y="23500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</a:rPr>
              <a:t>條件 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09560" y="26243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 ≥ 最終閾值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909560" y="28986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deliberate  （呼叫 Phi-3.5 模型推理）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72400" y="3429000"/>
            <a:ext cx="4297680" cy="960120"/>
          </a:xfrm>
          <a:prstGeom prst="rect">
            <a:avLst/>
          </a:prstGeom>
          <a:solidFill>
            <a:srgbClr val="00B894">
              <a:alpha val="12000"/>
            </a:srgbClr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7909560" y="34472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894"/>
                </a:solidFill>
              </a:rPr>
              <a:t>條件 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09560" y="37216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 &lt; 最終閾值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909560" y="39959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intuitive  （走 Markov 機率路徑）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5760" y="5166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</a:rPr>
              <a:t>Amy 角色設定：困惑閾值基礎值 = 0.45　　Ben：0.60　　Claire：0.35　　David：0.55　　Emma：0.50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6E72"/>
                </a:solidFill>
              </a:rPr>
              <a:t>DELIBERATE_K_OVERRIDE = 0.5  （來源：mental_state.py）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2｜模擬：Amy 遇到陌生客人（→ intuitive）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303520" cy="256032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情境設定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時間：第3天 09:30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地點：咖啡廳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46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當前行動：賣咖啡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YOLO：「咖啡廳內有1個陌生人，從未見過」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scene_text：「一個完全陌生的男人走進咖啡廳，Amy從未見過他」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input_text：「陌生男子：請給我一杯美式」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53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情緒：平靜（基礎閾值0.45）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749808"/>
            <a:ext cx="6309360" cy="530352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989320" y="7772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計算過程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117043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U 計算：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Markov上一tick：賣咖啡 0.55（rank1），對話 0.30（rank2）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73736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gap = 0.55 − 0.30 = 0.25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U = max(0.0, 1.0 − 0.25×2) = 0.50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23591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K 計算：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65176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無邏輯衝突pair命中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9260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無強情緒關鍵字（「陌生人」不在K列表）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32004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無一般情緒關鍵字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47472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K = 0.00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382219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S 計算：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41148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LTM已有摘要（非第一天）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438912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scene_text 含「從未見過」→ _MID_HIGH_SURPRISE_KW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46634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 = 0.50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501091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C 計算：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530352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 = 0.4×0.50 + 0.3×0.00 + 0.3×0.50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55778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 = 0.20 + 0.00 + 0.15 = 0.35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429000"/>
            <a:ext cx="5303520" cy="2606040"/>
          </a:xfrm>
          <a:prstGeom prst="rect">
            <a:avLst/>
          </a:prstGeom>
          <a:solidFill>
            <a:srgbClr val="00B894">
              <a:alpha val="12000"/>
            </a:srgbClr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502920" y="34564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決策結果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38587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情緒：平靜 → 調整 +0.00 → 最終閾值 0.45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19709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K = 0.00 &lt; 0.50  →  不強制 deliberate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53542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 = 0.35 &lt; 閾值 0.45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87375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→ 結果：intuitive（Markov 機率路徑）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521208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行動：機率最高為「賣咖啡」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555040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不呼叫 Phi-3.5 模型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2｜模擬：Amy 收到 Ben 告白（→ deliberate）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303520" cy="2331720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情境設定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時間：第3天 14:00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地點：咖啡廳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46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當前行動：休息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input_text：「Ben：Amy，我一直很在意你，你願意和我交往嗎？」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scene_text：「Ben神情認真，Amy心跳加速，思緒很亂」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情緒：緊張（基礎閾值0.45 + 0.10 = 0.55）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749808"/>
            <a:ext cx="6309360" cy="502920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989320" y="7772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計算過程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117043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K 計算：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4630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combined = input_text + yolo_desc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邏輯衝突：「休息」不在衝突行動列表 → +0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0116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scene_text 含「心跳加速」→ 一般情緒KW +0.25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scene_text 含「思緒很亂」→ 強情緒KW +0.45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56032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K = min(0.25+0.45, 1.0) = 0.70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90779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S 計算：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32004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場景無驚訝關鍵字 → S = 0.00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354787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U 計算：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38404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機率均勻：對話0.35，休息0.30，gap=0.05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41148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U = max(0, 1.0 − 0.05×2) = 0.90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446227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C 計算：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47548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 = 0.4×0.90 + 0.3×0.70 + 0.3×0.00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50292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 = 0.36 + 0.21 + 0.00 = 0.57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200400"/>
            <a:ext cx="5303520" cy="2834640"/>
          </a:xfrm>
          <a:prstGeom prst="rect">
            <a:avLst/>
          </a:prstGeom>
          <a:solidFill>
            <a:srgbClr val="E94560">
              <a:alpha val="12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02920" y="3227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決策結果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362102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情緒：緊張 → 調整 +0.10 → 最終閾值 0.55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395935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K = 0.70 ≥ 0.50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29768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→ 強制 deliberate（K override，不看C值）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463600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呼叫 Phi-3.5-Vision-Instruct 模型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97433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模型組 LTM + STM prompt 推理回應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531266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 = 0.57 也 ≥ 0.55（兩個條件都成立）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3a｜Markov 引擎 — 四來源加權機率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430000" cy="594360"/>
          </a:xfrm>
          <a:prstGeom prst="rect">
            <a:avLst/>
          </a:prstGeom>
          <a:solidFill>
            <a:srgbClr val="1A1A2E">
              <a:alpha val="95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47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P_final(a) = α·P_sched(a) + β·P_iner(a) + γ·P_situ(a) + δ·P_value(a)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577840" cy="246888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α — schedule_score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36E72"/>
                </a:solidFill>
              </a:rPr>
              <a:t>α = 0.40（正常）/ 0.10（重大事件）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1579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輸入：當前時間表時段 {time, action, location}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3230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完全匹配 action → 1.0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同類別（同job_category）→ 0.5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8094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不相關 → 0.0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5526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「前往」特例：未到目的地提升0.6，已到×0.3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295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Softmax 溫度 T=0.4（低溫使高分更突出）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577840" cy="246888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355080" y="1508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β — inertia_score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8562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36E72"/>
                </a:solidFill>
              </a:rPr>
              <a:t>β = 0.30（固定）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21579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輸入：最近N筆STM行動動詞序列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43230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歷史不足2筆 → 退回均勻分布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70662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統計：current_verb → 各行動的轉移次數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98094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Laplace平滑：count = transitions.get(a,0) + 1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25526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score[a] = math.log(count)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5295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Softmax 溫度 T=1.0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5577840" cy="2468880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02920" y="41605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γ — situation_score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5079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36E72"/>
                </a:solidFill>
              </a:rPr>
              <a:t>γ = 0.30（正常）/ 0.60（重大事件）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80974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輸入：yolo_desc + scene_text + location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08406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ACTION_KEYWORD_BOOST：每命中關鍵字 +0.15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3583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EMOTION_TO_ACTION_BOOST：情緒→特定行動加成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63270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同地點有人：對話 +0.30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90702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Softmax 溫度 T=1.0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114800"/>
            <a:ext cx="5577840" cy="2468880"/>
          </a:xfrm>
          <a:prstGeom prst="rect">
            <a:avLst/>
          </a:prstGeom>
          <a:solidFill>
            <a:srgbClr val="E17055">
              <a:alpha val="10000"/>
            </a:srgbClr>
          </a:solidFill>
          <a:ln w="1905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6355080" y="41605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7055"/>
                </a:solidFill>
              </a:rPr>
              <a:t>δ — value_score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45079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36E72"/>
                </a:solidFill>
              </a:rPr>
              <a:t>δ = 0.15（需有action_values才啟用，否則=0）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480974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輸入：ActionValueTracker.get_scores()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508406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正值行動 → 傾向選擇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53583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負值行動 → 傾向迴避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563270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shift最小值歸0後 softmax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590702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無記錄時 δ=0，三源合一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Layer 3a｜特殊機制：睡覺時間曲線 + 重大事件 + 正規化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6949440" cy="2743200"/>
          </a:xfrm>
          <a:prstGeom prst="rect">
            <a:avLst/>
          </a:prstGeom>
          <a:solidFill>
            <a:srgbClr val="16213E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睡覺時間修正曲線（_time_sleep_score）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645920" cy="393192"/>
          </a:xfrm>
          <a:prstGeom prst="rect">
            <a:avLst/>
          </a:prstGeom>
          <a:solidFill>
            <a:srgbClr val="0F346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時間段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70432"/>
            <a:ext cx="1645920" cy="393192"/>
          </a:xfrm>
          <a:prstGeom prst="rect">
            <a:avLst/>
          </a:prstGeom>
          <a:solidFill>
            <a:srgbClr val="0F346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ts 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86200" y="1170432"/>
            <a:ext cx="1645920" cy="393192"/>
          </a:xfrm>
          <a:prstGeom prst="rect">
            <a:avLst/>
          </a:prstGeom>
          <a:solidFill>
            <a:srgbClr val="0F346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scale = exp(ts×2)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1170432"/>
            <a:ext cx="1645920" cy="393192"/>
          </a:xfrm>
          <a:prstGeom prst="rect">
            <a:avLst/>
          </a:prstGeom>
          <a:solidFill>
            <a:srgbClr val="0F346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效果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07:00–18:00（工作）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600200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ts = −1.5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86200" y="1600200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exp(−3.0) ≈ 0.050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睡覺機率 ≈ 保底0.005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02996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18:00–23:00（漸進）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02996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ts: 0.0→+0.5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86200" y="202996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exp(ts) ≈ 1.0→1.65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02996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睡覺機率線性回升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45973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23:00+ （深夜）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45973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ts = +0.5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86200" y="245973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exp(0.5) ≈ 1.65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245973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睡覺機率提升65%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749808"/>
            <a:ext cx="4663440" cy="2286000"/>
          </a:xfrm>
          <a:prstGeom prst="rect">
            <a:avLst/>
          </a:prstGeom>
          <a:solidFill>
            <a:srgbClr val="E94560">
              <a:alpha val="12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635240" y="7772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重大事件權重切換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35240" y="11704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觸發條件：K ≥ MAJOR_EVENT_K_THRESHOLD = 0.60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35240" y="1508760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32520" y="1508760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α(sched)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29800" y="1508760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β(iner)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27080" y="1508760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γ(situ)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1938528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正常模式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32520" y="1938528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0.40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29800" y="1938528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0.30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27080" y="1938528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0.30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35240" y="2368296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事件模式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2368296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4560"/>
                </a:solidFill>
              </a:rPr>
              <a:t>0.10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29800" y="2368296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4560"/>
                </a:solidFill>
              </a:rPr>
              <a:t>0.30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27080" y="2368296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4560"/>
                </a:solidFill>
              </a:rPr>
              <a:t>0.60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35240" y="25694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 err="1">
                <a:solidFill>
                  <a:srgbClr val="636E72"/>
                </a:solidFill>
              </a:rPr>
              <a:t>目的：模擬「地震時有人繼續工作、有人逃跑」情境權重大增，時間表影響降低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657600"/>
            <a:ext cx="11795760" cy="2194560"/>
          </a:xfrm>
          <a:prstGeom prst="rect">
            <a:avLst/>
          </a:prstGeom>
          <a:solidFill>
            <a:srgbClr val="00B894">
              <a:alpha val="8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502920" y="368503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最終正規化與保底機制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409651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① 合併：P_raw(a) = α·P_sched + β·P_iner + γ·P_situ + δ·P_value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441655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② 保底：final_prob(a) = max(P_raw(a), MIN_PROB_FLOOR)  where MIN_PROB_FLOOR = 0.005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02920" y="473659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③ 正規化：total = Σ final_prob(a)，p(a) = round(final_prob(a) / total, 4)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505663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④ 修正浮點誤差：確保所有行動機率總和精確 = 1.0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02920" y="537667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⑤ 對話目標解析：選到「對話」且同地點有人 → target = 第一個同地點角色；無人 → 重新採樣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3a｜模擬：Amy 咖啡廳 08:30 機率計算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577840" cy="210312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情境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時間：08:30（第3天）   地點：咖啡廳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時間表：{08:30, 賣咖啡, 咖啡廳}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46504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最近STM行動：["前往","整理店面","賣咖啡","賣咖啡"]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YOLO：「咖啡廳有1個客人、1個杯子、1個咖啡機」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68296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同地點角色：[]（無）   情緒：平靜   重大事件：否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5577840" cy="1691640"/>
          </a:xfrm>
          <a:prstGeom prst="rect">
            <a:avLst/>
          </a:prstGeom>
          <a:solidFill>
            <a:srgbClr val="00B894">
              <a:alpha val="8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A. schedule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賣咖啡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63240" y="33375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1.0 → softmax(T=0.4)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33375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≈ 0.62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work類（收銀/補貨）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63240" y="37033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0.5 → softmax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70332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各≈ 0.09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其他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63240" y="40690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0.0 → softmax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406908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各≈ 0.01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971800"/>
            <a:ext cx="5577840" cy="1691640"/>
          </a:xfrm>
          <a:prstGeom prst="rect">
            <a:avLst/>
          </a:prstGeom>
          <a:solidFill>
            <a:srgbClr val="0F3460">
              <a:alpha val="8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309360" y="299923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B. inertia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3375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current_verb = "賣咖啡"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15400" y="33375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81360" y="33375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7033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賣咖啡→賣咖啡 count=2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15400" y="37033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log(2)≈0.693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881360" y="370332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≈ 0.45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4069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其他 count=1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915400" y="40690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log(1)=0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81360" y="406908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≈ 0.028各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800600"/>
            <a:ext cx="5577840" cy="1691640"/>
          </a:xfrm>
          <a:prstGeom prst="rect">
            <a:avLst/>
          </a:prstGeom>
          <a:solidFill>
            <a:srgbClr val="E94560">
              <a:alpha val="8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C. situation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51663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賣咖啡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63240" y="51663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命中「客人」「咖啡」→+0.30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51663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≈ 0.38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5321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收銀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63240" y="55321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命中「客人」→+0.15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553212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≈ 0.28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58978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對話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063240" y="58978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無同地點角色→+0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589788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≈ 0.02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4800600"/>
            <a:ext cx="5577840" cy="1691640"/>
          </a:xfrm>
          <a:prstGeom prst="rect">
            <a:avLst/>
          </a:prstGeom>
          <a:solidFill>
            <a:srgbClr val="E17055">
              <a:alpha val="8000"/>
            </a:srgbClr>
          </a:solidFill>
          <a:ln w="1905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6309360" y="482803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7055"/>
                </a:solidFill>
              </a:rPr>
              <a:t>D. value (δ=0)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09360" y="51663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無action_values記錄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915400" y="51663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均勻分布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881360" y="51663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無效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09360" y="55321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δ = 0.0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915400" y="55321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不參與合併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881360" y="553212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—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26480" y="749808"/>
            <a:ext cx="6035040" cy="2103120"/>
          </a:xfrm>
          <a:prstGeom prst="rect">
            <a:avLst/>
          </a:prstGeom>
          <a:solidFill>
            <a:srgbClr val="1A1A2E">
              <a:alpha val="92000"/>
            </a:srgbClr>
          </a:solidFill>
          <a:ln w="254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52" name="Text 50"/>
          <p:cNvSpPr/>
          <p:nvPr/>
        </p:nvSpPr>
        <p:spPr>
          <a:xfrm>
            <a:off x="6263640" y="7772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CB6E"/>
                </a:solidFill>
              </a:rPr>
              <a:t>最終合併（α=0.4, β=0.3, γ=0.3, δ=0）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263640" y="114300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賣咖啡：0.4×0.62 + 0.3×0.45 + 0.3×0.38 = 0.248+0.135+0.114 = 0.497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263640" y="146304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收 銀：0.4×0.09 + 0.3×0.028 + 0.3×0.28 ≈ 0.036+0.008+0.084 = 0.128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63640" y="178308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對 話：0.4×0.01 + 0.3×0.028 + 0.3×0.00 ≈ 0.004+0.008+0 = 0.012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263640" y="210312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睡 覺：08:30 屬工作時段，ts=-1.5，scale≈0.05 → 大幅壓制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263640" y="242316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CB6E"/>
                </a:solidFill>
              </a:rPr>
              <a:t>正規化後 TOP：賣咖啡≈0.507, 收銀≈0.131, 補貨≈0.082...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Layer 3b｜Deliberate 路徑 — LTM 擴散激活 + Phi-3.5 推理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795760" cy="141732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9552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① auto_query_nodes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7957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組合查詢節點：角色自己 + 對話對象 + 同地點角色 + 當前位置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5389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+ 最近3筆STM中出現的角色名字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2821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範例：["Amy", "Ben", "咖啡廳"]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11795760" cy="1417320"/>
          </a:xfrm>
          <a:prstGeom prst="rect">
            <a:avLst/>
          </a:prstGeom>
          <a:solidFill>
            <a:srgbClr val="6C5CE7">
              <a:alpha val="10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</a:rPr>
              <a:t>② spreading_retrieve（BFS 擴散激活）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2410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起始節點活化值 = 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9842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prop_activation_at_hop = activation_decay^(hop-1) = 0.4^(hop-1)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7274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hop=1: activation=1.0   hop=2: activation=0.4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83058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過濾：activation &lt; HAM_RETRIEVE_THRESHOLD(0.3) → 不取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458243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HAM_TRAVERSE_MAX_HOPS = 2  HAM_ACTIVATION_DECAY = 0.4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05993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排序：activation降序，相同則hops升序，取 top_k=20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57551"/>
            <a:ext cx="11795760" cy="141732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02920" y="381304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③ propositions_to_narrative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19709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將 HAM 5元組轉換為自然語言敘述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47141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範例：{Amy, 遇見, Ben, 咖啡廳, 第3天早上}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74573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 「你在第3天早上在咖啡廳遇見Ben。」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957317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組成多段 LTM 上下文文字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276088"/>
            <a:ext cx="11795760" cy="1417320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02920" y="532180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④ build_deliberate → 呼叫 Phi-3.5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70585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組裝完整 prompt：角色設定 + LTM敘述 + STM最近5筆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98017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+ 困惑度數值 + 當前情境 + 問題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25449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max_tokens 依場景設定（通常200-500）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輸出：action + target + content + thought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4｜短期記憶（STM）— 三層情節結構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6583680" cy="438912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STM Turn 結構（一筆記錄）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</a:rPr>
              <a:t>turn_id 格式：D001_T003  （第1天第3個turn）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</a:rPr>
              <a:t>摘要turn：D002_T000（T000保留給昨日摘要）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6309360" cy="292608"/>
          </a:xfrm>
          <a:prstGeom prst="rect">
            <a:avLst/>
          </a:prstGeom>
          <a:solidFill>
            <a:srgbClr val="00B894">
              <a:alpha val="3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perception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location    → 當前地點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3500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yolo_desc   → YOLO偵測描述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4261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scene_text  → 場景文字描述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26664"/>
            <a:ext cx="6309360" cy="292608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94360" y="304495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4670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input_text  → 接收的對話/事件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63931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action      → 執行的行動動詞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target      → 對象角色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22452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content     → 對話內容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608576"/>
            <a:ext cx="6309360" cy="292608"/>
          </a:xfrm>
          <a:prstGeom prst="rect">
            <a:avLst/>
          </a:prstGeom>
          <a:solidFill>
            <a:srgbClr val="6C5CE7">
              <a:alpha val="3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94360" y="462686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92861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thought  → 內心想法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22122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emotion  → 當前情緒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749808"/>
            <a:ext cx="5029200" cy="228600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269480" y="777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關鍵參數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11704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STM_SAFETY_LIMIT = 50（超過觸發中途濃縮）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69480" y="15544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STM_KEEP_AFTER_CONS = 5（睡眠後保留最近5筆）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269480" y="19385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安全閥觸發：midday consolidation（中途濃縮）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0" y="3154680"/>
            <a:ext cx="5029200" cy="201168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269480" y="31821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主要方法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69480" y="35661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add_turn()  — 寫入一筆3層記錄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69480" y="38862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get_today_narrative()  — 輸出敘述化文字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69480" y="42062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get_recent_actions(n)  — 取最近n筆行動（給inertia）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69480" y="45262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shrink_to_summary()  — 睡眠後縮減STM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9480" y="48463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is_over_safety_limit()  — 安全閥檢查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5257800"/>
            <a:ext cx="11795760" cy="137160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502920" y="5285232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敘述化輸出範例（_turn_to_narrative）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559612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[08:00] 在咖啡廳，看到2個人、1個杯子。  聽到：Ben對你說：早安。  對Ben說：「早安，今天想喝什麼？」  內心想：Ben看起來心情不錯（情緒：平靜）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4｜長期記憶（LTM）— HAM 5元組 + 衰減機制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669280" cy="4114800"/>
          </a:xfrm>
          <a:prstGeom prst="rect">
            <a:avLst/>
          </a:prstGeom>
          <a:solidFill>
            <a:srgbClr val="6C5CE7">
              <a:alpha val="10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HAM 5元組結構（Human Associative Memory）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36E72"/>
                </a:solidFill>
              </a:rPr>
              <a:t>理論基礎：Anderson &amp; Bower (1973)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id: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"L001"  — 唯一識別碼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subject: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810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"Amy"  — 主語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relation: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1579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"遇見"  — 關係/動詞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5054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object: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5054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"Ben"  — 受語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8529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location: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8529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"咖啡廳"  — 地點上下文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time: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200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"第3天 早上"  — 時間上下文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5478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strength: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547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1.0  — 記憶強度（0.0~1.0）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8953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access_count: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8953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  — 被提取次數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2428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encoded_day: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42428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3  — 寫入的天數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749808"/>
            <a:ext cx="5943600" cy="2926080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355080" y="777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衰減機制（apply_decay）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11430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公式：actual_decay = LTM_DECAY_RATE / (1 + access_count × 0.5)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148132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</a:rPr>
              <a:t>LTM_DECAY_RATE = 0.05（每天）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access_count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532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actual_decay/天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9556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說明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0.05 / 1.0 = 0.050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9556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未被使用，正常衰減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75320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0.05 / 2.0 = 0.025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195560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提取2次，衰減減半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2962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894"/>
                </a:solidFill>
              </a:rPr>
              <a:t>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75320" y="2962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894"/>
                </a:solidFill>
              </a:rPr>
              <a:t>0.05 / 6.0 ≈ 0.008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195560" y="2962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894"/>
                </a:solidFill>
              </a:rPr>
              <a:t>常用記憶，幾乎不衰減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3794760"/>
            <a:ext cx="5943600" cy="196596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6355080" y="3822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touch() 提取加強 + prune() 遺忘修剪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55080" y="420624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touch()：被 spreading_retrieve 命中時呼叫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55080" y="448056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→ access_count += 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5080" y="475488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→ strength 重置為 1.0（記憶強化）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55080" y="502920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prune()：每天睡眠後執行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55080" y="530352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→ strength &lt; LTM_FORGET_THRESHOLD(0.2) → 刪除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55080" y="557784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→ 效果：久未使用的記憶自然消失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983480"/>
            <a:ext cx="5669280" cy="1188720"/>
          </a:xfrm>
          <a:prstGeom prst="rect">
            <a:avLst/>
          </a:prstGeom>
          <a:solidFill>
            <a:srgbClr val="FDCB6E">
              <a:alpha val="15000"/>
            </a:srgbClr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502920" y="5010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記憶存活天數估算（未被提取）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" y="53218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strength從1.0開始，每天減0.05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到 strength=0.2 需要 (1.0-0.2)/0.05 = 16 天後自動刪除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Layer 4｜擴散激活（Spreading Activation）— BFS 記憶檢索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</a:rPr>
              <a:t>理論基礎：Anderson (1983) ACT* — 記憶節點在語意網絡中擴散傳播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6858000" cy="4937760"/>
          </a:xfrm>
          <a:prstGeom prst="rect">
            <a:avLst/>
          </a:prstGeom>
          <a:solidFill>
            <a:srgbClr val="6C5CE7">
              <a:alpha val="10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</a:rPr>
              <a:t>BFS 擴散激活演算法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① 初始化：起始節點集合（query_nodes 中每個節點 activation=1.0）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6479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② BFS 隊列：queue = [(node, hop=1, activation=1.0)]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③ 每次取出節點：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6829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 prop_activation = activation_decay^(hop-1) = 0.4^(hop-1)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 hop=1: prop_activation = 0.4^0 = 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 hop=2: prop_activation = 0.4^1 = 0.4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④ 過濾條件（同時滿足）：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57530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 a. prop_activation ≥ HAM_RETRIEVE_THRESHOLD = 0.3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87705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 b. hop ≤ HAM_TRAVERSE_MAX_HOPS =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17880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 c. 節點未被訪問過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4805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⑤ 加入結果：{proposition, activation, hops}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78231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⑥ 繼續展開：把鄰居節點加入隊列（hop+1）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508406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⑦ 排序：activation 降序，相同則 hops 升序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38581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⑧ 取 top_k = 20 筆返回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1024128"/>
            <a:ext cx="4754880" cy="219456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543800" y="10515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關鍵參數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438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HAM_TRAVERSE_MAX_HOPS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= 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380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HAM_ACTIVATION_DECAY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0" y="1874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= 0.4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438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HAM_RETRIEVE_THRESHOLD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8992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= 0.3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top_k（返回上限）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89920" y="2697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= 20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06640" y="3337560"/>
            <a:ext cx="4754880" cy="260604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7543800" y="336499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範例（Amy + Ben + 咖啡廳 為起始節點）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376732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命題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376732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hop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52760" y="376732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activation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43800" y="41148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Amy 遇見 Ben（咖啡廳）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98280" y="41148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652760" y="41148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1.0 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43800" y="4462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Amy 暗戀 David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98280" y="4462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652760" y="4462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1.0 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43800" y="480974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Ben 送給 Amy 禮物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98280" y="480974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652760" y="480974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0.4 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43800" y="515721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Ben 在 超市 工作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98280" y="515721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652760" y="515721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0.4 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543800" y="55046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4560"/>
                </a:solidFill>
              </a:rPr>
              <a:t>David 是 畫家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98280" y="55046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4560"/>
                </a:solidFill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652760" y="55046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4560"/>
                </a:solidFill>
              </a:rPr>
              <a:t>0.16 ✗過濾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3a｜RL 價值追蹤器（ActionValueTracker）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669280" cy="228600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價值衰減機制（每 tick 執行）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公式：V(a) = V(a) × VALUE_DECAY  （VALUE_DECAY = 0.85）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初始 V(賣咖啡) = 0.50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739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tick +1: 0.50 × 0.85 = 0.425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tick +2: 0.425 × 0.85 = 0.361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tick +5: 0.50 × 0.85⁵ ≈ 0.222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舊記憶自然淡化，近期行為影響更大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749808"/>
            <a:ext cx="5943600" cy="4206240"/>
          </a:xfrm>
          <a:prstGeom prst="rect">
            <a:avLst/>
          </a:prstGeom>
          <a:solidFill>
            <a:srgbClr val="FDCB6E">
              <a:alpha val="12000"/>
            </a:srgbClr>
          </a:solidFill>
          <a:ln w="1905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355080" y="777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獎勵信號定義（reward constants）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1188720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情緒改善（負→正）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972800" y="1188720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894"/>
                </a:solidFill>
              </a:rPr>
              <a:t>+0.50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618488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情緒回歸中性（負→平靜）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972800" y="161848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894"/>
                </a:solidFill>
              </a:rPr>
              <a:t>+0.15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048256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情緒惡化（正/平靜→負）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972800" y="2048256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94560"/>
                </a:solidFill>
              </a:rPr>
              <a:t>−0.45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478024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C下降 ≥ 0.12（困惑度降低）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0" y="2478024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894"/>
                </a:solidFill>
              </a:rPr>
              <a:t>+0.30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907792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C上升 ≥ 0.15（困惑度飆升）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972800" y="290779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94560"/>
                </a:solidFill>
              </a:rPr>
              <a:t>−0.35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3337560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對話被接受（DIALOGUE_ACCEPT）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972800" y="3337560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894"/>
                </a:solidFill>
              </a:rPr>
              <a:t>+0.25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3767328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時間表命中（SCHEDULE_HIT）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972800" y="376732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894"/>
                </a:solidFill>
              </a:rPr>
              <a:t>+0.20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5669280" cy="201168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02920" y="31821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Q值更新機制（類 Q-learning + Eligibility Trace）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3547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① 每tick結束後計算當前獎勵 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38221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② 所有行動的 Q 值 × VALUE_DECAY（衰減）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0965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③ Q(chosen_action) += r（當前行動加獎勵）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3708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④ Markov delta分支使用 get_scores() 作為 P_value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645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⑤ 效果：好行動累積正值，壞行動累積負值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9194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類似 Q(s,a) ← Q(s,a) + α[r - Q(s,a)]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5257800"/>
            <a:ext cx="11795760" cy="132588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02920" y="5285232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模擬範例：Amy 告白事件後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559612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情緒：平靜→緊張（惡化）→ reward=-0.45   C上升0.22≥0.15 → reward=-0.35   合計reward=-0.80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Q(休息) += -0.80  →  下一tick休息的機率（delta分支）降低，Markov更傾向對話或前往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4｜Weight Adapter — 每日 SGD-like 自適應學習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029200" cy="173736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初始預設權重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α (schedule)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170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0.40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β (inertia)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0.30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γ (situation)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7922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0.20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δ (value)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0.10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749808"/>
            <a:ext cx="6583680" cy="2560320"/>
          </a:xfrm>
          <a:prstGeom prst="rect">
            <a:avLst/>
          </a:prstGeom>
          <a:solidFill>
            <a:srgbClr val="1A1A2E">
              <a:alpha val="92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715000" y="777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CB6E"/>
                </a:solidFill>
              </a:rPr>
              <a:t>SGD-like 更新公式（update_weights，每天睡覺時執行）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1143000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α += LR × r × (sched_p − α)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β += LR × r × (iner_p  − β)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γ += LR × r × (situ_p  − γ)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δ += LR × r × (val_p   − δ)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LR = LEARNING_RATE = 0.05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 = 當日平均reward   sched_p/iner_p/situ_p/val_p = 各來源在該tick的機率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5029200" cy="201168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6334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後處理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0175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① Clip：每個權重 clamp 到 [0.05, 0.85]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3375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MIN_WEIGHT = 0.05   MAX_WEIGHT = 0.85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6576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② 正規化：total = α+β+γ+δ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9776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每個權重 /= total（總和=1）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976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③ 浮點修正：餘差加回 α（確保精確=1.0）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429000"/>
            <a:ext cx="6583680" cy="320040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715000" y="34564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模擬範例：Amy 第3天學習後的權重更新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15000" y="3840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初始：α=0.40, β=0.30, γ=0.20, δ=0.10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41422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444398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當日記錄（3 ticks）：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474573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tick1: r=+0.20, sched_p=0.62, iner_p=0.45, situ_p=0.38, val_p=0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50474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tick2: r=-0.45, sched_p=0.30, iner_p=0.35, situ_p=0.55, val_p=0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5349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tick3: r=+0.25, sched_p=0.50, iner_p=0.40, situ_p=0.42, val_p=0.2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56509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595274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更新後（clip+正規化）→ α≈0.39, β≈0.30, γ≈0.21, δ≈0.10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62544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Amy 略微增加對「情境」的依賴（γ上升）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4｜睡眠鞏固 12 步驟（consolidation.py）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6751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6E72"/>
                </a:solidFill>
              </a:rPr>
              <a:t>理論基礎：Diekelmann &amp; Born (2010) — 睡眠不清空記憶，而是「轉移與整合」STM→LTM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5623560" cy="822960"/>
          </a:xfrm>
          <a:prstGeom prst="rect">
            <a:avLst/>
          </a:prstGeom>
          <a:solidFill>
            <a:srgbClr val="0F3460">
              <a:alpha val="12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06984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① 取出今日STM敘述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0817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stm.get_today_narrative() → narrative文字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56816"/>
            <a:ext cx="5623560" cy="822960"/>
          </a:xfrm>
          <a:prstGeom prst="rect">
            <a:avLst/>
          </a:prstGeom>
          <a:solidFill>
            <a:srgbClr val="0F3460">
              <a:alpha val="12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200253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② 抽取HAM 5元組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408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prompt_extract_ham(narrative)，Phi-3.5，max_tokens=500 → HAM列表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5623560" cy="822960"/>
          </a:xfrm>
          <a:prstGeom prst="rect">
            <a:avLst/>
          </a:prstGeom>
          <a:solidFill>
            <a:srgbClr val="0F3460">
              <a:alpha val="12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293522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③ 篩選重要HAM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prompt_select_ltm，max_tokens=200，最多5筆寫入LTM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5623560" cy="822960"/>
          </a:xfrm>
          <a:prstGeom prst="rect">
            <a:avLst/>
          </a:prstGeom>
          <a:solidFill>
            <a:srgbClr val="6C5CE7">
              <a:alpha val="12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86791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④ 寫入LTM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ltm.encode_batch(selected_hams) → 新增節點+邊到MemoryGraph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754880"/>
            <a:ext cx="5623560" cy="822960"/>
          </a:xfrm>
          <a:prstGeom prst="rect">
            <a:avLst/>
          </a:prstGeom>
          <a:solidFill>
            <a:srgbClr val="6C5CE7">
              <a:alpha val="12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⑤ 更新LTM摘要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51389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模型生成新摘要，max_tokens=80，上限200字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5687568"/>
            <a:ext cx="5623560" cy="822960"/>
          </a:xfrm>
          <a:prstGeom prst="rect">
            <a:avLst/>
          </a:prstGeom>
          <a:solidFill>
            <a:srgbClr val="6C5CE7">
              <a:alpha val="12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57200" y="57332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⑥ 更新關係摘要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07161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找出narrative中出現的角色，模型更新各對關係描述，max_tokens=80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024128"/>
            <a:ext cx="5623560" cy="822960"/>
          </a:xfrm>
          <a:prstGeom prst="rect">
            <a:avLst/>
          </a:prstGeom>
          <a:solidFill>
            <a:srgbClr val="E94560">
              <a:alpha val="12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263640" y="106984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⑦ 情緒判斷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40817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today_max_K&lt;0.5→直接平靜；≥0.5→模型推斷，max_tokens=10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1956816"/>
            <a:ext cx="5623560" cy="822960"/>
          </a:xfrm>
          <a:prstGeom prst="rect">
            <a:avLst/>
          </a:prstGeom>
          <a:solidFill>
            <a:srgbClr val="E94560">
              <a:alpha val="12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263640" y="200253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⑧ 生成隔天時間表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3408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職業範本+LTM摘要，模型生成，max_tokens=500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2889504"/>
            <a:ext cx="5623560" cy="822960"/>
          </a:xfrm>
          <a:prstGeom prst="rect">
            <a:avLst/>
          </a:prstGeom>
          <a:solidFill>
            <a:srgbClr val="E94560">
              <a:alpha val="12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263640" y="293522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⑨ 時間表規則檢查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2735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確認必要時段（睡覺/起床）、時間順序正確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3822192"/>
            <a:ext cx="5623560" cy="822960"/>
          </a:xfrm>
          <a:prstGeom prst="rect">
            <a:avLst/>
          </a:prstGeom>
          <a:solidFill>
            <a:srgbClr val="00B894">
              <a:alpha val="12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6263640" y="386791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⑩ LTM衰減+修剪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4206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apply_decay() 全體衰減；prune() 刪除 strength&lt;0.2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754880"/>
            <a:ext cx="5623560" cy="822960"/>
          </a:xfrm>
          <a:prstGeom prst="rect">
            <a:avLst/>
          </a:prstGeom>
          <a:solidFill>
            <a:srgbClr val="00B894">
              <a:alpha val="12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6263640" y="48006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⑪ STM縮減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51389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shrink_to_summary()：保留摘要turn + 最近5筆（STM_KEEP_AFTER_CONS=5）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5687568"/>
            <a:ext cx="5623560" cy="822960"/>
          </a:xfrm>
          <a:prstGeom prst="rect">
            <a:avLst/>
          </a:prstGeom>
          <a:solidFill>
            <a:srgbClr val="00B894">
              <a:alpha val="12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6263640" y="57332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⑫ 更新權重+推進天數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607161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weight_adapter.update_weights()；character.advance_day()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對話系統（Dialogue Flow）— 接受/拒絕機率計算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6858000" cy="320040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對話接受機率公式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P_accept = base + relation_bonus + leisure_bonus + work_penalty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DIALOGUE_BASE_ACCEPT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11880" y="15544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= 0.50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基礎接受機率（任何人都有50%接受）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DIALOGUE_RELATION_BONUS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198424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= +0.30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9842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好感關係加成（認識的人）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41401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DIALOGUE_LEISURE_BONUS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41401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= +0.20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4140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休閒時間加成（不忙碌時）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84378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DIALOGUE_WORK_PENALTY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28437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= −0.30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8437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工作時間懲罰（忙碌中被打擾）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31927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</a:rPr>
              <a:t>DIALOGUE_MAX_TURNS = 10（每段對話最多10回合）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749808"/>
            <a:ext cx="4754880" cy="3200400"/>
          </a:xfrm>
          <a:prstGeom prst="rect">
            <a:avLst/>
          </a:prstGeom>
          <a:solidFill>
            <a:srgbClr val="FDCB6E">
              <a:alpha val="15000"/>
            </a:srgbClr>
          </a:solidFill>
          <a:ln w="1905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7543800" y="777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計算範例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1188720"/>
            <a:ext cx="4754880" cy="594360"/>
          </a:xfrm>
          <a:prstGeom prst="rect">
            <a:avLst/>
          </a:prstGeom>
          <a:solidFill>
            <a:srgbClr val="F1F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498080" y="12070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Ben找Amy（休閒，有好感）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0" y="1435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0.50 + 0.30 + 0.20 = 1.00  → 必然接受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1865376"/>
            <a:ext cx="4754880" cy="594360"/>
          </a:xfrm>
          <a:prstGeom prst="rect">
            <a:avLst/>
          </a:prstGeom>
          <a:solidFill>
            <a:srgbClr val="F1F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7498080" y="18836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Ben找Amy（工作中，有好感）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0" y="21122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0.50 + 0.30 − 0.30 = 0.50  → 50%接受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06640" y="2542032"/>
            <a:ext cx="4754880" cy="594360"/>
          </a:xfrm>
          <a:prstGeom prst="rect">
            <a:avLst/>
          </a:prstGeom>
          <a:solidFill>
            <a:srgbClr val="F1F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7498080" y="2560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陌生人找Amy（休閒）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98080" y="2788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0.50 + 0.00 + 0.20 = 0.70  → 70%接受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3218688"/>
            <a:ext cx="4754880" cy="594360"/>
          </a:xfrm>
          <a:prstGeom prst="rect">
            <a:avLst/>
          </a:prstGeom>
          <a:solidFill>
            <a:srgbClr val="F1F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7498080" y="32369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陌生人找Amy（工作中）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34655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0.50 + 0.00 − 0.30 = 0.20  → 20%接受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069080"/>
            <a:ext cx="11795760" cy="256032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502920" y="4096512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對話執行流程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448056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① 發起方（agent A）Markov採樣得到「對話」→ target = 同地點角色B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480060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② 計算 P_accept，隨機決定 B 是否接受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512064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③ 接受：設定雙方 action_lock=2（不可中斷），對話session開始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544068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④ 每回合：A生成內容（Markov或deliberate）→ STM寫入 → B回應 → STM寫入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" y="576072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⑤ 達到 DIALOGUE_MAX_TURNS=10 或任一方主動結束 → 對話結束，action_lock清零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08076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⑥ 對話結束：reward += DIALOGUE_ACCEPT(+0.25)，寫入ValueTracker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完整模擬追蹤：Amy 第3天 08:30 一個完整 Tick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795760" cy="896112"/>
          </a:xfrm>
          <a:prstGeom prst="rect">
            <a:avLst/>
          </a:prstGeom>
          <a:solidFill>
            <a:srgbClr val="0F3460">
              <a:alpha val="8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TICK 開始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時間：D3 08:30  角色：Amy  地點：咖啡廳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上一tick行動：整理店面  情緒：平靜  當前pending_action：None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00784"/>
            <a:ext cx="11795760" cy="1152144"/>
          </a:xfrm>
          <a:prstGeom prst="rect">
            <a:avLst/>
          </a:prstGeom>
          <a:solidFill>
            <a:srgbClr val="E17055">
              <a:alpha val="8000"/>
            </a:srgbClr>
          </a:solidFill>
          <a:ln w="1905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7055"/>
                </a:solidFill>
              </a:rPr>
              <a:t>YOLO感知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4825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YOLO偵測：咖啡廳有1個客人、1個杯子、1個咖啡機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0428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yolo_desc更新 → "咖啡廳有1個客人、1個杯子、1個咖啡機"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interrupt_queue：無新事件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11795760" cy="640080"/>
          </a:xfrm>
          <a:prstGeom prst="rect">
            <a:avLst/>
          </a:prstGeom>
          <a:solidFill>
            <a:srgbClr val="00B894">
              <a:alpha val="8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Phase 1 執行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25526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pending_action = None → 跳過Phase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11795760" cy="1664208"/>
          </a:xfrm>
          <a:prstGeom prst="rect">
            <a:avLst/>
          </a:prstGeom>
          <a:solidFill>
            <a:srgbClr val="E94560">
              <a:alpha val="8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639312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Phase 2 決策（困惑度計算）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95020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U=0.50（上tick賣咖啡0.55 vs 對話0.30，gap=0.25）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K=0.00（無衝突、無情緒關鍵字）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46227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S=0.00（無驚訝關鍵字，且已有LTM）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71830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 = 0.4×0.50 + 0.3×0.00 + 0.3×0.00 = 0.20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97433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情緒平靜 → 最終閾值=0.45    K&lt;0.5且C=0.20&lt;0.45 → intuitive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321808"/>
            <a:ext cx="11795760" cy="1664208"/>
          </a:xfrm>
          <a:prstGeom prst="rect">
            <a:avLst/>
          </a:prstGeom>
          <a:solidFill>
            <a:srgbClr val="6C5CE7">
              <a:alpha val="8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02920" y="535838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Markov 機率計算（intuitive）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66928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α=0.40: sched→賣咖啡≈0.62  β=0.30: iner→賣咖啡≈0.45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92531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γ=0.30: situ→賣咖啡≈0.38（客人+咖啡機命中）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18134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合併：0.4×0.62+0.3×0.45+0.3×0.38 = 0.497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43737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睡覺：ts=-1.5→scale≈0.05，被壓制  正規化→賣咖啡≈0.507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69340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採樣結果：賣咖啡（機率最高，加權隨機採樣）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7040880"/>
            <a:ext cx="11795760" cy="1408176"/>
          </a:xfrm>
          <a:prstGeom prst="rect">
            <a:avLst/>
          </a:prstGeom>
          <a:solidFill>
            <a:srgbClr val="0F3460">
              <a:alpha val="8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02920" y="707745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STM 寫入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738835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turn_id: D003_T005  time: "08:30"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764438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perception: {咖啡廳, "1客人1杯子1咖啡機", ""}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790041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event: {input:"", action:"賣咖啡", target:"", content:""}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815644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inner: {thought:"繼續工作，今天客人挺多", emotion:"平靜"}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8503920"/>
            <a:ext cx="11795760" cy="1152144"/>
          </a:xfrm>
          <a:prstGeom prst="rect">
            <a:avLst/>
          </a:prstGeom>
          <a:solidFill>
            <a:srgbClr val="00B894">
              <a:alpha val="8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02920" y="854049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RL獎勵計算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885139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時間表命中賣咖啡 → reward += SCHEDULE_HIT(+0.20)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910742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情緒無變化 → 無情緒獎勵   C變化&lt;0.12 → 無困惑獎勵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936345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ValueTracker.update("賣咖啡", +0.20)  所有行動×VALUE_DECAY(0.85)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完整參數速查表（config/world_config.py + 各模組）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897880" cy="1828800"/>
          </a:xfrm>
          <a:prstGeom prst="rect">
            <a:avLst/>
          </a:prstGeom>
          <a:solidFill>
            <a:srgbClr val="6C5CE7">
              <a:alpha val="10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STM / LTM 記憶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STM_SAFETY_LIMIT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34640" y="11612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50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60520" y="11612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STM超過觸發中途濃縮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STM_KEEP_AFTER_CONS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34640" y="1508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60520" y="15087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睡眠後保留最近N筆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8562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LTM_DECAY_RATE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1856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0.05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18562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每天LTM衰減速率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2037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LTM_FORGET_THRESHOLD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4640" y="22037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0.2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22037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低於此值刪除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777240"/>
            <a:ext cx="5897880" cy="1481328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400800" y="813816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HAM 擴散激活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1161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HAM_TRAVERSE_MAX_HOPS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78240" y="11612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04120" y="11612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BFS最大跳數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15087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HAM_ACTIVATION_DECAY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78240" y="1508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0.4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04120" y="15087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每跳激活衰減率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18562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HAM_RETRIEVE_THRESHOLD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78240" y="1856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0.3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104120" y="18562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激活值低於此不取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5897880" cy="2176272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457200" y="3099816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Markov 引擎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447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MARKOV_WEIGHTS_NORMAL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834640" y="34472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α:0.4 β:0.3 γ:0.3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34472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正常模式（δ另計）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37947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MARKOV_WEIGHTS_EVENT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34640" y="3794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α:0.1 β:0.3 γ:0.6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60520" y="37947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K≥0.6時事件模式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1422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MAJOR_EVENT_K_THRESHOLD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834640" y="4142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0.60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60520" y="41422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切換事件權重的K門檻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4897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MIN_PROB_FLOOR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834640" y="44897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0.005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60520" y="44897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每行動最低機率保底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483717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KEYWORD_BOOST_PER_HIT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834640" y="48371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0.15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60520" y="48371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情境關鍵字每命中加分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09360" y="3758184"/>
            <a:ext cx="5897880" cy="2871216"/>
          </a:xfrm>
          <a:prstGeom prst="rect">
            <a:avLst/>
          </a:prstGeom>
          <a:solidFill>
            <a:srgbClr val="E17055">
              <a:alpha val="10000"/>
            </a:srgbClr>
          </a:solidFill>
          <a:ln w="1905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6400800" y="3794760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7055"/>
                </a:solidFill>
              </a:rPr>
              <a:t>RL 價值追蹤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46520" y="41422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VALUE_DECAY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778240" y="4142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0.85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104120" y="41422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每tick衰減係數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46520" y="44897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REWARD_EMOTION_IMPROVE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778240" y="44897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+0.50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104120" y="44897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情緒改善獎勵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46520" y="483717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REWARD_EMOTION_WORSEN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78240" y="48371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−0.45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104120" y="48371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情緒惡化懲罰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46520" y="51846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REWARD_CONFUSION_DROP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778240" y="518464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+0.30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104120" y="518464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C下降≥0.12獎勵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46520" y="55321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REWARD_CONFUSION_SPIKE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778240" y="55321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−0.35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104120" y="55321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C上升≥0.15懲罰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46520" y="58795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REWARD_DIALOGUE_ACCEPT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778240" y="58795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+0.25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104120" y="587959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對話接受獎勵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46520" y="62270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REWARD_SCHEDULE_HIT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778240" y="62270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+0.20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0104120" y="62270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時間表命中獎勵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3959352"/>
            <a:ext cx="5897880" cy="1481328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 67"/>
          <p:cNvSpPr/>
          <p:nvPr/>
        </p:nvSpPr>
        <p:spPr>
          <a:xfrm>
            <a:off x="457200" y="3995928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困惑度 / 模式切換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02920" y="43434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C公式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2834640" y="43434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w1·U+w2·K+w3·S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160520" y="43434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w1=0.4 w2=0.3 w3=0.3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02920" y="469087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DELIBERATE_K_OVERRIDE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2834640" y="469087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0.5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160520" y="46908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K≥此值強制deliberate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02920" y="503834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EMOTION_RESET_THRESHOLD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2834640" y="503834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0.5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160520" y="50383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K峰值≥此才推斷情緒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</a:rPr>
              <a:t>角色設定表 — 5位角色的認知參數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37160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角色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04672"/>
            <a:ext cx="137160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職業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804672"/>
            <a:ext cx="137160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困惑閾值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804672"/>
            <a:ext cx="347472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情緒對閾值影響範例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804672"/>
            <a:ext cx="384048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特殊設定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11795760" cy="868680"/>
          </a:xfrm>
          <a:prstGeom prst="rect">
            <a:avLst/>
          </a:prstGeom>
          <a:solidFill>
            <a:srgbClr val="E94560">
              <a:alpha val="8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307592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</a:rPr>
              <a:t>Amy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149047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咖啡師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353312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</a:rPr>
              <a:t>0.45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15179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平靜→0.45  緊張→0.55  難過→0.60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14904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暗戀David，被Ben追求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11795760" cy="868680"/>
          </a:xfrm>
          <a:prstGeom prst="rect">
            <a:avLst/>
          </a:prstGeom>
          <a:solidFill>
            <a:srgbClr val="00B894">
              <a:alpha val="8000"/>
            </a:srgbClr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258568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894"/>
                </a:solidFill>
              </a:rPr>
              <a:t>Ben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24414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超市員工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30428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</a:rPr>
              <a:t>0.60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80560" y="2468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平靜→0.60  緊張→0.70  難過→0.75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24414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喜歡Amy，容易直覺行動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63824"/>
            <a:ext cx="11795760" cy="868680"/>
          </a:xfrm>
          <a:prstGeom prst="rect">
            <a:avLst/>
          </a:prstGeom>
          <a:solidFill>
            <a:srgbClr val="6C5CE7">
              <a:alpha val="8000"/>
            </a:srgbClr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209544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5CE7"/>
                </a:solidFill>
              </a:rPr>
              <a:t>Claire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20240" y="339242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學生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3255264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5CE7"/>
                </a:solidFill>
              </a:rPr>
              <a:t>0.35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480560" y="34198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平靜→0.35  緊張→0.45  難過→0.50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33924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愛讀書，最容易觸發deliberate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11795760" cy="868680"/>
          </a:xfrm>
          <a:prstGeom prst="rect">
            <a:avLst/>
          </a:prstGeom>
          <a:solidFill>
            <a:srgbClr val="E17055">
              <a:alpha val="8000"/>
            </a:srgbClr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57200" y="41605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7055"/>
                </a:solidFill>
              </a:rPr>
              <a:t>David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20240" y="43434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畫家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08960" y="42062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17055"/>
                </a:solidFill>
              </a:rPr>
              <a:t>0.55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480560" y="43708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平靜→0.55  緊張→0.65  難過→0.70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38160" y="4343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感性，不知Amy暗戀他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5065776"/>
            <a:ext cx="11795760" cy="868680"/>
          </a:xfrm>
          <a:prstGeom prst="rect">
            <a:avLst/>
          </a:prstGeom>
          <a:solidFill>
            <a:srgbClr val="0F3460">
              <a:alpha val="8000"/>
            </a:srgbClr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57200" y="5111496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460"/>
                </a:solidFill>
              </a:rPr>
              <a:t>Emma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920240" y="529437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老師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108960" y="5157216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460"/>
                </a:solidFill>
              </a:rPr>
              <a:t>0.50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480560" y="53218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平靜→0.50  緊張→0.60  難過→0.65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38160" y="529437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理性，平衡直覺與深思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6035040"/>
            <a:ext cx="1179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6E72"/>
                </a:solidFill>
              </a:rPr>
              <a:t>所有角色情緒基線：「平靜」（BASELINE_EMOTION = "平靜"）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36E72"/>
                </a:solidFill>
              </a:rPr>
              <a:t>觸發情緒更新：當天K值峰值 ≥ EMOTION_RESET_THRESHOLD(0.5) → 呼叫模型推斷新情緒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AI-Town 系統總結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749040" cy="1645920"/>
          </a:xfrm>
          <a:prstGeom prst="rect">
            <a:avLst/>
          </a:prstGeom>
          <a:solidFill>
            <a:srgbClr val="E17055">
              <a:alpha val="20000"/>
            </a:srgbClr>
          </a:solidFill>
          <a:ln w="254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1247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7055"/>
                </a:solidFill>
              </a:rPr>
              <a:t>感知層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YOLO → yolo_desc → interrupt_queue → action_lock（0/1/2）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0" y="1051560"/>
            <a:ext cx="3749040" cy="1645920"/>
          </a:xfrm>
          <a:prstGeom prst="rect">
            <a:avLst/>
          </a:prstGeom>
          <a:solidFill>
            <a:srgbClr val="E94560">
              <a:alpha val="20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389120" y="11247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</a:rPr>
              <a:t>困惑度閘門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5087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C=w1U+w2K+w3S → intuitive(Markov) 或 deliberate(Phi-3.5)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0" y="1051560"/>
            <a:ext cx="3749040" cy="1645920"/>
          </a:xfrm>
          <a:prstGeom prst="rect">
            <a:avLst/>
          </a:prstGeom>
          <a:solidFill>
            <a:srgbClr val="00B894">
              <a:alpha val="20000"/>
            </a:srgbClr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321040" y="11247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94"/>
                </a:solidFill>
              </a:rPr>
              <a:t>Markov引擎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21040" y="15087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4來源加權（α時間表+β慣性+γ情境+δRL） → softmax → 保底 → 採樣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3749040" cy="1645920"/>
          </a:xfrm>
          <a:prstGeom prst="rect">
            <a:avLst/>
          </a:prstGeom>
          <a:solidFill>
            <a:srgbClr val="E17055">
              <a:alpha val="20000"/>
            </a:srgbClr>
          </a:solidFill>
          <a:ln w="254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7055"/>
                </a:solidFill>
              </a:rPr>
              <a:t>RL價值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每tick衰減0.85 + 7種reward signal → Q值指導delta分支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834640"/>
            <a:ext cx="3749040" cy="1645920"/>
          </a:xfrm>
          <a:prstGeom prst="rect">
            <a:avLst/>
          </a:prstGeom>
          <a:solidFill>
            <a:srgbClr val="FDCB6E">
              <a:alpha val="20000"/>
            </a:srgbClr>
          </a:solidFill>
          <a:ln w="254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38912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CB6E"/>
                </a:solidFill>
              </a:rPr>
              <a:t>Weight Adapter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32918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每天SGD(LR=0.05)更新α/β/γ/δ → clip[0.05,0.85] → 正規化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2834640"/>
            <a:ext cx="3749040" cy="1645920"/>
          </a:xfrm>
          <a:prstGeom prst="rect">
            <a:avLst/>
          </a:prstGeom>
          <a:solidFill>
            <a:srgbClr val="6C5CE7">
              <a:alpha val="20000"/>
            </a:srgbClr>
          </a:solidFill>
          <a:ln w="254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32104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</a:rPr>
              <a:t>STM（短期）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32918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三層情節記憶（perception/event/inner） → 安全閥50 → 睡眠縮減保留5筆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3749040" cy="1645920"/>
          </a:xfrm>
          <a:prstGeom prst="rect">
            <a:avLst/>
          </a:prstGeom>
          <a:solidFill>
            <a:srgbClr val="6C5CE7">
              <a:alpha val="20000"/>
            </a:srgbClr>
          </a:solidFill>
          <a:ln w="254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57200" y="4690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</a:rPr>
              <a:t>LTM（長期）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50749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HAM 5元組 → 每天衰減 0.05/(1+ac×0.5) → 提取強化 → 低於0.2刪除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4617720"/>
            <a:ext cx="3749040" cy="1645920"/>
          </a:xfrm>
          <a:prstGeom prst="rect">
            <a:avLst/>
          </a:prstGeom>
          <a:solidFill>
            <a:srgbClr val="0F3460">
              <a:alpha val="20000"/>
            </a:srgbClr>
          </a:solidFill>
          <a:ln w="254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389120" y="4690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</a:rPr>
              <a:t>擴散激活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50749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BFS 2跳，激活0.4^(hop-1)，門檻0.3，top20 → 組自然語言 → 注入deliberate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4617720"/>
            <a:ext cx="3749040" cy="1645920"/>
          </a:xfrm>
          <a:prstGeom prst="rect">
            <a:avLst/>
          </a:prstGeom>
          <a:solidFill>
            <a:srgbClr val="00B894">
              <a:alpha val="20000"/>
            </a:srgbClr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8321040" y="4690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94"/>
                </a:solidFill>
              </a:rPr>
              <a:t>睡眠鞏固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21040" y="50749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12步驟：STM→HAM→LTM→摘要→關係→情緒→時間表→衰減→縮減→更新權重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4465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2BEC3"/>
                </a:solidFill>
              </a:rPr>
              <a:t>理論模型：Kahneman雙歷程 × Tulving情節/語意 × Anderson HAM × Anderson擴散激活 × Diekelmann睡眠鞏固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4797</Words>
  <Application>Microsoft Office PowerPoint</Application>
  <PresentationFormat>寬螢幕</PresentationFormat>
  <Paragraphs>743</Paragraphs>
  <Slides>22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 Ray</cp:lastModifiedBy>
  <cp:revision>2</cp:revision>
  <dcterms:created xsi:type="dcterms:W3CDTF">2026-05-19T12:16:23Z</dcterms:created>
  <dcterms:modified xsi:type="dcterms:W3CDTF">2026-05-19T12:33:56Z</dcterms:modified>
</cp:coreProperties>
</file>