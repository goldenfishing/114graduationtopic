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AI-Town 完整系統流程與模擬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94560"/>
                </a:solidFill>
              </a:rPr>
              <a:t>從感知到記憶的完整數據追蹤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BEC3"/>
                </a:solidFill>
              </a:rPr>
              <a:t>Kahneman (2011)  雙歷程理論 — System 1 直覺 / System 2 深思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" y="4133088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BEC3"/>
                </a:solidFill>
              </a:rPr>
              <a:t>Tulving (1972)   情節記憶與語意記憶 — STM 敘述 / LTM HAM命題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4608576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BEC3"/>
                </a:solidFill>
              </a:rPr>
              <a:t>Anderson &amp; Bower (1973)  HAM — 人類聯想記憶 5元組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5084064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BEC3"/>
                </a:solidFill>
              </a:rPr>
              <a:t>Anderson (1983)  擴散激活理論 — 記憶節點 BFS 傳播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5559552"/>
            <a:ext cx="9418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2BEC3"/>
                </a:solidFill>
              </a:rPr>
              <a:t>Diekelmann &amp; Born (2010)  睡眠鞏固 — STM→LTM 轉移整合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329184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認知科學理論基礎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</a:rPr>
              <a:t>系統架構概覽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11612880" cy="603504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Layer 1  進入層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23360" y="8961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clock.py  agent/manager.py  agent/interrupt.py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11612880" cy="603504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819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Layer 2  協調層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581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agent/agent.py  core/mental_state.py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402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677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Layer 3a 推論層（直覺）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22677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core/markov_engine.py  core/tick_value.py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11612880" cy="603504"/>
          </a:xfrm>
          <a:prstGeom prst="rect">
            <a:avLst/>
          </a:prstGeom>
          <a:solidFill>
            <a:srgbClr val="16213E">
              <a:alpha val="12000"/>
            </a:srgbClr>
          </a:solidFill>
          <a:ln w="25400">
            <a:solidFill>
              <a:srgbClr val="1621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9535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13E"/>
                </a:solidFill>
              </a:rPr>
              <a:t>Layer 3b 推論層（深思）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23360" y="29535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core/memory_graph.py  model/prompt_builder.py  model/loader.py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11612880" cy="603504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6393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Layer 4  認知層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23360" y="36393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core/character.py  core/memory_stm.py  core/memory_ltm.py  core/memory_graph.py  core/weight_adapter.py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297680"/>
            <a:ext cx="11612880" cy="603504"/>
          </a:xfrm>
          <a:prstGeom prst="rect">
            <a:avLst/>
          </a:prstGeom>
          <a:solidFill>
            <a:srgbClr val="6C5CE7">
              <a:alpha val="12000"/>
            </a:srgbClr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3251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5CE7"/>
                </a:solidFill>
              </a:rPr>
              <a:t>Layer 5  模型層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023360" y="43251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model/loader.py  Phi-3.5-Vision-Instruct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4983480"/>
            <a:ext cx="11612880" cy="603504"/>
          </a:xfrm>
          <a:prstGeom prst="rect">
            <a:avLst/>
          </a:prstGeom>
          <a:solidFill>
            <a:srgbClr val="E17055">
              <a:alpha val="12000"/>
            </a:srgbClr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0109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17055"/>
                </a:solidFill>
              </a:rPr>
              <a:t>Layer 6  感知層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23360" y="50109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observe/yolo_perception.py  observe/scene.py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5669280"/>
            <a:ext cx="11612880" cy="603504"/>
          </a:xfrm>
          <a:prstGeom prst="rect">
            <a:avLst/>
          </a:prstGeom>
          <a:solidFill>
            <a:srgbClr val="636E72">
              <a:alpha val="12000"/>
            </a:srgbClr>
          </a:solidFill>
          <a:ln w="25400">
            <a:solidFill>
              <a:srgbClr val="636E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696712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E72"/>
                </a:solidFill>
              </a:rPr>
              <a:t>Layer 7  觀察層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023360" y="5696712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observe/dashboard_html.py  reports/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</a:rPr>
              <a:t>Layer 1｜Tick 完整生命週期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7772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13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① Tick T 開始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383280" y="8138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clock.py 推進時間，觸發所有角色處理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3624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99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② 時鐘檢查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0" y="14996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force_wake（起床時間）/ force_sleep（23:00後）判斷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048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1488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1854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③ 感知層更新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1854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YOLO偵測場景 → yolo_desc更新，interrupt_queue排入事件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7340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712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④ 中斷處理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8712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interrupt.py 評估事件強度 vs 行動鎖等級（0/1/2）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4198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5204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570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⑤ Phase 1 執行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35570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pending_action執行（對話/一般/多tick行動） → 寫STM turn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1056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42428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⑥ Phase 2 決策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83280" y="42428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計算困惑度C → 選路徑（intuitive/deliberate） → 設定下一pending_action → 寫STM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47914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8920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9286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⑦ STM 安全閥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49286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STM turns &gt; 50 → 觸發中途濃縮（midday consolidation）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54772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BEC3"/>
                </a:solidFill>
              </a:rPr>
              <a:t>▼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5577840"/>
            <a:ext cx="2926080" cy="566928"/>
          </a:xfrm>
          <a:prstGeom prst="rect">
            <a:avLst/>
          </a:prstGeom>
          <a:solidFill>
            <a:srgbClr val="0F3460">
              <a:alpha val="15000"/>
            </a:srgbClr>
          </a:solidFill>
          <a:ln w="1905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5614416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⑧ Tick T+1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5614416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時鐘推進，回到①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64922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E72"/>
                </a:solidFill>
              </a:rPr>
              <a:t>行動鎖等級：等級2（不可中斷）= 對話、睡覺 ｜ 等級1（重要）= 賣咖啡、工作 ｜ 等級0（容易中斷）= 前往、散步、滑手機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2｜困惑度計算 — 公式與參數來源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11430000" cy="640080"/>
          </a:xfrm>
          <a:prstGeom prst="rect">
            <a:avLst/>
          </a:prstGeom>
          <a:solidFill>
            <a:srgbClr val="1A1A2E">
              <a:alpha val="95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 = w1·U + w2·K + w3·S    （w1=0.4, w2=0.3, w3=0.3）    來源：mental_state.py → compute_C()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749040" cy="5074920"/>
          </a:xfrm>
          <a:prstGeom prst="rect">
            <a:avLst/>
          </a:prstGeom>
          <a:solidFill>
            <a:srgbClr val="00B894">
              <a:alpha val="10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</a:rPr>
              <a:t>U — 不確定性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來源：Markov機率分布前兩名差距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gap = prob_rank1 − prob_rank2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U = max(0.0, 1.0 − gap × 2.0)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範圍：0.0（確定）~ 1.0（不確定）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範例：gap=0.25 → U=0.50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gap=0.05 → U=0.90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292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       gap≥0.5  → U=0.0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97680" y="1508760"/>
            <a:ext cx="3749040" cy="5074920"/>
          </a:xfrm>
          <a:prstGeom prst="rect">
            <a:avLst/>
          </a:prstGeom>
          <a:solidFill>
            <a:srgbClr val="E94560">
              <a:alpha val="10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4560"/>
                </a:solidFill>
              </a:rPr>
              <a:t>K — 衝突程度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43484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來源：YOLO + 對話 + 行動 + 場景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3484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邏輯衝突pair命中：+0.60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43484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  （如「離開/走了」+正在「工作」）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43484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強情緒關鍵字命中：+0.45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43484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  （混亂、不知所措、思緒紊亂）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43484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一般情緒關鍵字命中：+0.25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43484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  （心跳、暗戀、告白、情緒複雜）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434840" y="53218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K上限：1.0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434840" y="579729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K ≥ 0.5 → 強制 deliberate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0" y="1508760"/>
            <a:ext cx="3749040" cy="5074920"/>
          </a:xfrm>
          <a:prstGeom prst="rect">
            <a:avLst/>
          </a:prstGeom>
          <a:solidFill>
            <a:srgbClr val="6C5CE7">
              <a:alpha val="10000"/>
            </a:srgbClr>
          </a:solidFill>
          <a:ln w="25400">
            <a:solidFill>
              <a:srgbClr val="6C5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21040" y="153619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5CE7"/>
                </a:solidFill>
              </a:rPr>
              <a:t>S — 驚訝程度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199339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來源：scene_text vs LTM預期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366760" y="246888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LTM為空（第一天）→ S=0.0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366760" y="29443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陌生人/從沒見過：+0.60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366760" y="34198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第一次/從未：+0.50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366760" y="38953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意外/沒想到/不可思議：+0.35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366760" y="43708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突然：+0.25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366760" y="48463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3436"/>
                </a:solidFill>
              </a:rPr>
              <a:t>S上限：1.0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</a:rPr>
              <a:t>Layer 2｜情緒調整閾值 + 模式決策邏輯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74980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情緒對困惑度閾值的調整（adjust_threshold_by_emotion）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1078992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36E72"/>
                </a:solidFill>
              </a:rPr>
              <a:t>設計邏輯：心情差時容易直覺反應，更難深思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情緒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651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閾值調整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37760" y="1444752"/>
            <a:ext cx="2194560" cy="329184"/>
          </a:xfrm>
          <a:prstGeom prst="rect">
            <a:avLst/>
          </a:prstGeom>
          <a:solidFill>
            <a:srgbClr val="0F346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Amy最終閾值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平靜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51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0.45（Amy基礎）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開心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311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94"/>
                </a:solidFill>
              </a:rPr>
              <a:t>興奮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51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6334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0.45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緊張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651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0358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不安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651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343814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CB6E"/>
                </a:solidFill>
              </a:rPr>
              <a:t>困惑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51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+0.10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0" y="38404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0.55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難過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651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424281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疲憊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+0.15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37760" y="464515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3436"/>
                </a:solidFill>
              </a:rPr>
              <a:t>0.60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74980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3460"/>
                </a:solidFill>
              </a:rPr>
              <a:t>模式決策邏輯（decide_mode 函式）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772400" y="1234440"/>
            <a:ext cx="4297680" cy="960120"/>
          </a:xfrm>
          <a:prstGeom prst="rect">
            <a:avLst/>
          </a:prstGeom>
          <a:solidFill>
            <a:srgbClr val="E94560">
              <a:alpha val="12000"/>
            </a:srgbClr>
          </a:solidFill>
          <a:ln w="25400">
            <a:solidFill>
              <a:srgbClr val="E94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0" y="12527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4560"/>
                </a:solidFill>
              </a:rPr>
              <a:t>條件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09560" y="152704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K ≥ 0.50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909560" y="180136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強制 deliberate  （不看C值，情緒衝突 override）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772400" y="2331720"/>
            <a:ext cx="4297680" cy="960120"/>
          </a:xfrm>
          <a:prstGeom prst="rect">
            <a:avLst/>
          </a:prstGeom>
          <a:solidFill>
            <a:srgbClr val="0F3460">
              <a:alpha val="12000"/>
            </a:srgbClr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3500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條件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909560" y="26243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≥ 最終閾值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909560" y="289864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deliberate  （呼叫 Phi-3.5 模型推理）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772400" y="3429000"/>
            <a:ext cx="4297680" cy="960120"/>
          </a:xfrm>
          <a:prstGeom prst="rect">
            <a:avLst/>
          </a:prstGeom>
          <a:solidFill>
            <a:srgbClr val="00B894">
              <a:alpha val="12000"/>
            </a:srgbClr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909560" y="34472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894"/>
                </a:solidFill>
              </a:rPr>
              <a:t>條件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09560" y="372160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C &lt; 最終閾值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909560" y="39959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</a:rPr>
              <a:t>→ intuitive  （走 Markov 機率路徑）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5166360"/>
            <a:ext cx="11430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</a:rPr>
              <a:t>Amy 角色設定：困惑閾值基礎值 = 0.45　　Ben：0.60　　Claire：0.35　　David：0.55　　Emma：0.50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36E72"/>
                </a:solidFill>
              </a:rPr>
              <a:t>DELIBERATE_K_OVERRIDE = 0.5  （來源：mental_state.py）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2026-05-19T11:59:40Z</dcterms:created>
  <dcterms:modified xsi:type="dcterms:W3CDTF">2026-05-19T11:59:40Z</dcterms:modified>
</cp:coreProperties>
</file>