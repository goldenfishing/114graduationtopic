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81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</a:rPr>
              <a:t>AI-Town 完整系統流程與模擬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5146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94560"/>
                </a:solidFill>
              </a:rPr>
              <a:t>從感知到記憶的完整數據追蹤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24612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CB6E"/>
                </a:solidFill>
              </a:rPr>
              <a:t>設計靈感來自哪些人類心理學研究？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3657600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2BEC3"/>
                </a:solidFill>
              </a:rPr>
              <a:t>Kahneman (2011) 雙歷程理論 ─ 人類有兩種思考：快速直覺 vs 慢速深思，AI-Town 角色也用同樣模式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1371600" y="4133088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2BEC3"/>
                </a:solidFill>
              </a:rPr>
              <a:t>Tulving (1972) 情節記憶 ─ 人記得「發生過什麼事」（STM）和「知識概念」（LTM）分開存放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71600" y="4608576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2BEC3"/>
                </a:solidFill>
              </a:rPr>
              <a:t>Anderson &amp; Bower (1973) HAM ─ 記憶不是一句話，而是主語→關係→受語的三元組網路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371600" y="5084064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2BEC3"/>
                </a:solidFill>
              </a:rPr>
              <a:t>Anderson (1983) 擴散激活 ─ 想到一件事，腦中相關的記憶會自動被「點亮」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5559552"/>
            <a:ext cx="9601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2BEC3"/>
                </a:solidFill>
              </a:rPr>
              <a:t>Diekelmann &amp; Born (2010) 睡眠鞏固 ─ 睡覺不是清空記憶，而是把今天的短期記憶整理成長期知識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2E"/>
                </a:solidFill>
              </a:rPr>
              <a:t>系統架構概覽 — 7 層分工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1612880" cy="603504"/>
          </a:xfrm>
          <a:prstGeom prst="rect">
            <a:avLst/>
          </a:prstGeom>
          <a:solidFill>
            <a:srgbClr val="E94560">
              <a:alpha val="12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94560"/>
                </a:solidFill>
              </a:rPr>
              <a:t>Layer 1  進入層（負責啟動每個時間點）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943600" y="8961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clock.py  agent/manager.py  agent/interrupt.py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1612880" cy="603504"/>
          </a:xfrm>
          <a:prstGeom prst="rect">
            <a:avLst/>
          </a:prstGeom>
          <a:solidFill>
            <a:srgbClr val="0F3460">
              <a:alpha val="12000"/>
            </a:srgbClr>
          </a:solidFill>
          <a:ln w="254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460"/>
                </a:solidFill>
              </a:rPr>
              <a:t>Layer 2  協調層（決定角色要「想還是直覺反應」）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0" y="15819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agent/agent.py  core/mental_state.py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11612880" cy="603504"/>
          </a:xfrm>
          <a:prstGeom prst="rect">
            <a:avLst/>
          </a:prstGeom>
          <a:solidFill>
            <a:srgbClr val="16213E">
              <a:alpha val="12000"/>
            </a:srgbClr>
          </a:solidFill>
          <a:ln w="254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457200" y="22677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</a:rPr>
              <a:t>Layer 3a 直覺路徑（用 Markov 機率快速選行動）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0" y="22677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core/markov_engine.py  core/tick_value.py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11612880" cy="603504"/>
          </a:xfrm>
          <a:prstGeom prst="rect">
            <a:avLst/>
          </a:prstGeom>
          <a:solidFill>
            <a:srgbClr val="16213E">
              <a:alpha val="12000"/>
            </a:srgbClr>
          </a:solidFill>
          <a:ln w="25400">
            <a:solidFill>
              <a:srgbClr val="16213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13E"/>
                </a:solidFill>
              </a:rPr>
              <a:t>Layer 3b 深思路徑（查記憶 + 呼叫 AI 模型推理）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0" y="29535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core/memory_graph.py  model/prompt_builder.py  model/loader.py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11612880" cy="603504"/>
          </a:xfrm>
          <a:prstGeom prst="rect">
            <a:avLst/>
          </a:prstGeom>
          <a:solidFill>
            <a:srgbClr val="00B894">
              <a:alpha val="12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57200" y="36393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894"/>
                </a:solidFill>
              </a:rPr>
              <a:t>Layer 4  記憶核心（管理角色的短期與長期記憶）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943600" y="36393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core/character.py  core/memory_stm.py  core/memory_ltm.py  core/memory_graph.py  core/weight_adapter.py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97680"/>
            <a:ext cx="11612880" cy="603504"/>
          </a:xfrm>
          <a:prstGeom prst="rect">
            <a:avLst/>
          </a:prstGeom>
          <a:solidFill>
            <a:srgbClr val="6C5CE7">
              <a:alpha val="12000"/>
            </a:srgbClr>
          </a:solidFill>
          <a:ln w="254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457200" y="43251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C5CE7"/>
                </a:solidFill>
              </a:rPr>
              <a:t>Layer 5  語言模型層（AI 大腦：Phi-3.5）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0" y="43251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model/loader.py  Phi-3.5-Vision-Instruct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983480"/>
            <a:ext cx="11612880" cy="603504"/>
          </a:xfrm>
          <a:prstGeom prst="rect">
            <a:avLst/>
          </a:prstGeom>
          <a:solidFill>
            <a:srgbClr val="E17055">
              <a:alpha val="12000"/>
            </a:srgbClr>
          </a:solidFill>
          <a:ln w="254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7200" y="50109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17055"/>
                </a:solidFill>
              </a:rPr>
              <a:t>Layer 6  感知層（看見環境，像眼睛）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0" y="50109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observe/yolo_perception.py  observe/scene.py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5669280"/>
            <a:ext cx="11612880" cy="603504"/>
          </a:xfrm>
          <a:prstGeom prst="rect">
            <a:avLst/>
          </a:prstGeom>
          <a:solidFill>
            <a:srgbClr val="636E72">
              <a:alpha val="12000"/>
            </a:srgbClr>
          </a:solidFill>
          <a:ln w="25400">
            <a:solidFill>
              <a:srgbClr val="636E7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57200" y="5696712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36E72"/>
                </a:solidFill>
              </a:rPr>
              <a:t>Layer 7  觀察層（輸出報告 / 視覺化）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943600" y="5696712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observe/dashboard_html.py  reports/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1｜每個「時間格（Tick）」裡發生什麼事？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36E72"/>
                </a:solidFill>
              </a:rPr>
              <a:t>角色的一天被切成很多個時間格，每格都按照以下順序走一遍：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896112"/>
            <a:ext cx="310896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① 時間格開始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932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時鐘推進一格，通知所有角色「該行動了」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45920" y="14813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581912"/>
            <a:ext cx="310896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20040" y="16184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② 時鐘強制檢查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66160" y="16184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該起床就叫醒（force_wake），23:00後強制睡覺（force_sleep）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21671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267712"/>
            <a:ext cx="310896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3" name="Text 11"/>
          <p:cNvSpPr/>
          <p:nvPr/>
        </p:nvSpPr>
        <p:spPr>
          <a:xfrm>
            <a:off x="320040" y="23042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③ 眼睛（感知）更新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23042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YOLO 掃描環境，更新場景描述，把「有事情發生」丟進待處理佇列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28529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953512"/>
            <a:ext cx="310896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29900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u="sng" dirty="0">
                <a:solidFill>
                  <a:srgbClr val="0F3460"/>
                </a:solidFill>
              </a:rPr>
              <a:t>④ 中斷評估</a:t>
            </a:r>
            <a:endParaRPr lang="en-US" sz="1200" u="sng" dirty="0"/>
          </a:p>
        </p:txBody>
      </p:sp>
      <p:sp>
        <p:nvSpPr>
          <p:cNvPr id="18" name="Text 16"/>
          <p:cNvSpPr/>
          <p:nvPr/>
        </p:nvSpPr>
        <p:spPr>
          <a:xfrm>
            <a:off x="3566160" y="29900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評估剛收到的事件夠不夠重要，看能不能打斷正在做的事（行動鎖 0/1/2）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45920" y="35387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39312"/>
            <a:ext cx="310896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20040" y="36758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⑤ 第一階段：執行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66160" y="36758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把上一格決定好的行動做完（對話 / 走路 / 工作），結果寫進短期記憶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645920" y="42245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325112"/>
            <a:ext cx="310896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20040" y="43616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⑥ 第二階段：決策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66160" y="4361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計算現在有多困惑（C值），決定用直覺還是深思，選出下一格要做的事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45920" y="49103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5010912"/>
            <a:ext cx="310896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320040" y="50474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⑦ 記憶安全閥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50474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短期記憶超過 50 筆 → 立刻整理（中途濃縮），避免爆滿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559612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5696712"/>
            <a:ext cx="310896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20040" y="573328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⑧ 進入下一格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66160" y="57332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時鐘推進，重複整個流程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36E72"/>
                </a:solidFill>
              </a:rPr>
              <a:t>行動鎖等級說明：等級 2（不能被打斷）= 對話中、睡覺中 ｜ 等級 1（重要，不太好打斷）= 賣咖啡、工作中 ｜ 等級 0（隨時可打斷）= 散步、滑手機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2E"/>
                </a:solidFill>
              </a:rPr>
              <a:t>Layer 2｜困惑度（C值）：角色有多不知道該怎麼辦？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solidFill>
            <a:srgbClr val="1A1A2E">
              <a:alpha val="95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 = w1·U + w2·K + w3·S    （w1=0.4, w2=0.3, w3=0.3）    C 越高 → 越需要深思熟慮（呼叫 AI 模型）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749040" cy="5074920"/>
          </a:xfrm>
          <a:prstGeom prst="rect">
            <a:avLst/>
          </a:prstGeom>
          <a:solidFill>
            <a:srgbClr val="00B894">
              <a:alpha val="10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U — 選擇有多猶豫？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「Markov 給出的各行動機率差距太小」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4505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→ 代表不確定要選哪個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9077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gap = 第1名機率 − 第2名機率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8221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U = max(0.0, 1.0 − gap × 2.0)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2793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7365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範例：gap=0.25 → U=0.50（有點猶豫）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51937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       gap=0.05 → U=0.90（很猶豫）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02920" y="56509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       gap≥0.5  → U=0.0（很果斷）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97680" y="1508760"/>
            <a:ext cx="3749040" cy="5074920"/>
          </a:xfrm>
          <a:prstGeom prst="rect">
            <a:avLst/>
          </a:prstGeom>
          <a:solidFill>
            <a:srgbClr val="E94560">
              <a:alpha val="10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389120" y="1536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K — 有沒有衝突或情緒波動？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34840" y="19933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來源：YOLO描述 + 收到的話 + 行動 + 場景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24505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29077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邏輯衝突（如「有人走了」卻還在「工作」）：+0.60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34840" y="33649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強烈情緒關鍵字（思緒很亂、不知所措）：+0.45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34840" y="38221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一般情緒關鍵字（心跳加速、告白、暗戀）：+0.25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34840" y="42793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34840" y="47365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K 上限：1.0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434840" y="51937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⚠ K ≥ 0.5 → 不管C值，直接強制深思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0" y="1508760"/>
            <a:ext cx="3749040" cy="5074920"/>
          </a:xfrm>
          <a:prstGeom prst="rect">
            <a:avLst/>
          </a:prstGeom>
          <a:solidFill>
            <a:srgbClr val="6C5CE7">
              <a:alpha val="10000"/>
            </a:srgbClr>
          </a:solidFill>
          <a:ln w="254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8321040" y="1536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</a:rPr>
              <a:t>S — 遇到預期外的事嗎？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66760" y="19933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跟「長期記憶期望的樣子」差多少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66760" y="24505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→ 差越多 S 越高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66760" y="29077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66760" y="33649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第一天（長期記憶為空）→ S = 0.0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66760" y="38221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陌生人/從沒見過：+0.60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66760" y="42793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第一次/從未：+0.50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66760" y="47365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意外/沒想到：+0.35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366760" y="51937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突然：+0.25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366760" y="5650992"/>
            <a:ext cx="3474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S 上限：1.0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</a:rPr>
              <a:t>Layer 2｜心情不好時更難「深思熟慮」 — 閾值調整與路徑決策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情緒如何影響「要深思還是直覺」的門檻？（adjust_threshold_by_emotion）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36E72"/>
                </a:solidFill>
              </a:rPr>
              <a:t>邏輯：心情越差，閾值越高，越難觸發深思 → 更傾向快速直覺反應（就像人在情緒化時容易衝動）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219456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情緒狀態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444752"/>
            <a:ext cx="219456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閾值調整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44752"/>
            <a:ext cx="2194560" cy="347472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Amy 的最終閾值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653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平靜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8653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653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0.45（Amy基礎）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677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開心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2677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677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670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興奮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670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7004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0.45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0723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緊張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0723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0723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0.55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不安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4747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0.55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8770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困惑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8770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8770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0.55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279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難過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4279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793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0.60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681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疲憊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4681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+0.15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68172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0.60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74980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怎麼決定要「深思」還是「直覺」？（decide_mode）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1234440"/>
            <a:ext cx="4389120" cy="1051560"/>
          </a:xfrm>
          <a:prstGeom prst="rect">
            <a:avLst/>
          </a:prstGeom>
          <a:solidFill>
            <a:srgbClr val="E94560">
              <a:alpha val="12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7909560" y="126187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4560"/>
                </a:solidFill>
              </a:rPr>
              <a:t>規則 1（最優先）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09560" y="153619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K ≥ 0.50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09560" y="18288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→ 強制深思（deliberate）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909560" y="20848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情緒衝突太大，不管 C 值直接叫模型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772400" y="2404872"/>
            <a:ext cx="4389120" cy="1051560"/>
          </a:xfrm>
          <a:prstGeom prst="rect">
            <a:avLst/>
          </a:prstGeom>
          <a:solidFill>
            <a:srgbClr val="0F3460">
              <a:alpha val="12000"/>
            </a:srgbClr>
          </a:solidFill>
          <a:ln w="254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7909560" y="2432304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460"/>
                </a:solidFill>
              </a:rPr>
              <a:t>規則 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909560" y="27066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 ≥ 最終閾值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909560" y="29992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→ 深思（deliberate）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09560" y="32552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整體困惑度超標，呼叫 Phi-3.5 推理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772400" y="3575304"/>
            <a:ext cx="4389120" cy="1051560"/>
          </a:xfrm>
          <a:prstGeom prst="rect">
            <a:avLst/>
          </a:prstGeom>
          <a:solidFill>
            <a:srgbClr val="00B894">
              <a:alpha val="12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7909560" y="360273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894"/>
                </a:solidFill>
              </a:rPr>
              <a:t>規則 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09560" y="387705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C &lt; 最終閾值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909560" y="41696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→ 直覺（intuitive）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909560" y="4425696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夠確定了，直接走 Markov 機率決定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5760" y="521208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</a:rPr>
              <a:t>各角色基礎閾值：Amy=0.45　Ben=0.60　Claire=0.35（最容易深思）　David=0.55　Emma=0.50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</a:rPr>
              <a:t>DELIBERATE_K_OVERRIDE = 0.5 ← 這個值定義在 mental_state.py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2E"/>
                </a:solidFill>
              </a:rPr>
              <a:t>實際計算範例①：Amy 遇到陌生客人 → 用直覺反應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303520" cy="260604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當下情境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時間：第3天 09:30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地點：咖啡廳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現在在做：賣咖啡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YOLO看到：「咖啡廳內有1個陌生人，從未見過」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對方說：「陌生男子：請給我一杯美式」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場景描述：「一個完全陌生的男人走進咖啡廳，Amy從未見過他」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5351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Amy 心情：平靜（基礎閾值 0.45）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52160" y="749808"/>
            <a:ext cx="6309360" cy="530352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989320" y="777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 值計算過程（一步步來）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89320" y="11704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U（選擇有多猶豫）：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26480" y="14630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上一個時間格 Markov 給的機率：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17373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賣咖啡 0.55（第1名），對話 0.30（第2名）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0116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gap = 0.55 − 0.30 = 0.25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22860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U = max(0.0, 1.0 − 0.25×2) = 0.50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6517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K（有沒有衝突 / 情緒波動）：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94436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沒有邏輯衝突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321868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「陌生人」不在情緒關鍵字列表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49300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K = 0.00（沒有衝突）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385876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S（遇到預期外的事嗎）：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15137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已有長期記憶（非第一天）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442569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場景描述含「從未見過」→ 命中驚訝關鍵字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470001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S = 0.50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506577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C 最終計算：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26480" y="535838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0.4×0.50 + 0.3×0.00 + 0.3×0.50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563270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0.20 + 0.00 + 0.15 = 0.35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474720"/>
            <a:ext cx="5303520" cy="2560320"/>
          </a:xfrm>
          <a:prstGeom prst="rect">
            <a:avLst/>
          </a:prstGeom>
          <a:solidFill>
            <a:srgbClr val="00B894">
              <a:alpha val="12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502920" y="35021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結論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02920" y="388620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心情平靜 → 閾值不調整，維持 0.45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22452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K = 0.00，沒有強制深思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56285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0.35 &lt; 閾值 0.45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490118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→ 走直覺路徑（intuitive）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523951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Markov 直接選出行動：賣咖啡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557784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不需要叫 AI 模型思考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2E"/>
                </a:solidFill>
              </a:rPr>
              <a:t>實際計算範例②：Amy 收到 Ben 告白 → 觸發深思熟慮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303520" cy="233172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當下情境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時間：第3天 14:00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4475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地點：咖啡廳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現在在做：休息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482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Ben 說：「Amy，我一直很在意你，你願意和我交往嗎？」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場景描述：「Ben神情認真，Amy心跳加速，思緒很亂」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心情從平靜變成緊張（閾值變 0.45+0.10 = 0.55）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749808"/>
            <a:ext cx="6309360" cy="502920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12" name="Text 10"/>
          <p:cNvSpPr/>
          <p:nvPr/>
        </p:nvSpPr>
        <p:spPr>
          <a:xfrm>
            <a:off x="5989320" y="7772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 值計算過程（一步步來）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89320" y="117043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K（衝突 / 情緒波動）← 先算這個：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邏輯衝突檢查：「休息」不在衝突行動列表 → +0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26480" y="173736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場景含「心跳加速」→ 一般情緒關鍵字：+0.25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26480" y="201168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場景含「思緒很亂」→ 強烈情緒關鍵字：+0.45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22860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K = min(0.25+0.45, 1.0) = 0.70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6517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S（遇到預期外嗎）：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94436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場景沒有驚訝關鍵字 → S = 0.00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89320" y="331012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U（選擇有多猶豫）：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360273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機率很分散：對話 0.35，休息 0.30，gap=0.05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26480" y="3877056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U = max(0, 1.0 − 0.05×2) = 0.90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424281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C 最終計算：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453542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0.4×0.90 + 0.3×0.70 + 0.3×0.00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4809744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0.36 + 0.21 + 0.00 = 0.57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200400"/>
            <a:ext cx="5303520" cy="2834640"/>
          </a:xfrm>
          <a:prstGeom prst="rect">
            <a:avLst/>
          </a:prstGeom>
          <a:solidFill>
            <a:srgbClr val="E94560">
              <a:alpha val="12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502920" y="3227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結論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62102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心情緊張 → 閾值+0.10 → 最終閾值 0.55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959352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K = 0.70 ≥ 0.50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297680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→ 直接強制深思，不用看 C 值！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" y="4636008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呼叫 Phi-3.5 AI 模型思考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974336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模型讀取長期記憶 + 今日日記後回應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5312664"/>
            <a:ext cx="5029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（C=0.57 也 ≥ 0.55，兩個條件都成立）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3a｜直覺路徑 — Markov 引擎怎麼決定要做什麼？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430000" cy="594360"/>
          </a:xfrm>
          <a:prstGeom prst="rect">
            <a:avLst/>
          </a:prstGeom>
          <a:solidFill>
            <a:srgbClr val="1A1A2E">
              <a:alpha val="95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47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</a:rPr>
              <a:t>P最終(行動) = α×P行程表(a) + β×P慣性(a) + γ×P情境(a) + δ×P學習(a)    ← 四個來源加權混合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5577840" cy="246888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894"/>
                </a:solidFill>
              </a:rPr>
              <a:t>α — 行程表分數（今天計畫做什麼？）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α = 0.40（正常情況）/ 0.10（重大事件發生時）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來源：角色今天的時間規劃（每天睡覺時生成）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5059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完全符合行程 → 1.0分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同類別的行動 → 0.5分（如：收銀算同類「工作」）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無關行動 → 0.0分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2735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「前往」特例：還沒到目的地提升到0.6，已到了則×0.3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使用 softmax（溫度 T=0.4）← 低溫讓高分更突出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5577840" cy="246888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355080" y="150876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460"/>
                </a:solidFill>
              </a:rPr>
              <a:t>β — 行為慣性（最近一直在做什麼？）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β = 0.30（固定）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0" y="217627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來源：最近 N 筆短期記憶的行動記錄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245059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歷史資料不足2筆 → 退回均勻分布（不偏好任何行動）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72491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統計：現在的動詞 → 接下來做各動詞的次數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99923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Laplace 平滑：count = 歷史次數 + 1（避免出現0）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2735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score = math.log(count)  ← 對數平滑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354787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使用 softmax（溫度 T=1.0）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5577840" cy="246888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1605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4560"/>
                </a:solidFill>
              </a:rPr>
              <a:t>γ — 情境分數（現在環境在說什麼？）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4526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γ = 0.30（正常）/ 0.60（重大事件 → 情境影響大增）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82803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來源：YOLO 描述 + 場景文字 + 地點 + 周圍角色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1023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場景關鍵字命中：每個 +0.15（ACTION_KEYWORD_BOOST）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537667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情緒對特定行動的加成（EMOTION_TO_ACTION_BOOST）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565099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同地點有其他角色時：「對話」額外 +0.30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592531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使用 softmax（溫度 T=1.0）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4114800"/>
            <a:ext cx="5577840" cy="2468880"/>
          </a:xfrm>
          <a:prstGeom prst="rect">
            <a:avLst/>
          </a:prstGeom>
          <a:solidFill>
            <a:srgbClr val="E17055">
              <a:alpha val="10000"/>
            </a:srgbClr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32" name="Text 30"/>
          <p:cNvSpPr/>
          <p:nvPr/>
        </p:nvSpPr>
        <p:spPr>
          <a:xfrm>
            <a:off x="6355080" y="416052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17055"/>
                </a:solidFill>
              </a:rPr>
              <a:t>δ — 學習分數（過去哪些行動有好結果？）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355080" y="45262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δ = 0.15（有 RL 記錄時）/ 0.0（沒有記錄時，三源合一）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00800" y="482803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來源：ActionValueTracker 的 Q 值記錄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510235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過去帶來好結果的行動 → 分數偏高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537667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過去帶來壞結果的行動 → 分數偏低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565099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最小值移至0後再做 softmax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0" y="5925312"/>
            <a:ext cx="5257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沒有記錄時 δ=0，只靠前三個來源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</a:rPr>
              <a:t>Layer 3a｜三個特殊設計：睡覺時間壓制 + 重大事件切換 + 保底正規化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6949440" cy="2788920"/>
          </a:xfrm>
          <a:prstGeom prst="rect">
            <a:avLst/>
          </a:prstGeom>
          <a:solidFill>
            <a:srgbClr val="16213E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3460"/>
                </a:solidFill>
              </a:rPr>
              <a:t>① 睡覺時間壓制曲線（_time_sleep_score）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F3460"/>
                </a:solidFill>
              </a:rPr>
              <a:t>上班時不讓角色睡覺，深夜才讓機率回升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325880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時間段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325880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ts 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86200" y="1325880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scale = exp(ts×2)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325880"/>
            <a:ext cx="1645920" cy="393192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實際效果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75564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07:00–18:00（上班時段）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175564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ts = −1.5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86200" y="175564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exp(−3.0) ≈ 0.050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755648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睡覺機率壓低至保底值 0.005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18541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18:00–23:00（下班後）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218541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ts: 0.0→+0.5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86200" y="218541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exp(ts) ≈ 1.0→1.65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2185416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睡覺機率慢慢回升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615184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23:00 以後（深夜）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2615184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ts = +0.5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2615184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exp(0.5) ≈ 1.65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2615184"/>
            <a:ext cx="16459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睡覺機率提升65%，角色傾向去睡覺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98080" y="749808"/>
            <a:ext cx="4663440" cy="233172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635240" y="7772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94560"/>
                </a:solidFill>
              </a:rPr>
              <a:t>② 重大事件時切換權重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E94560"/>
                </a:solidFill>
              </a:rPr>
              <a:t>（模擬「地震時有人逃、有人繼續工作」的個體差異）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35240" y="1325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觸發條件：K ≥ MAJOR_EVENT_K_THRESHOLD = 0.60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35240" y="164592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模式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732520" y="164592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α行程表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29800" y="164592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β慣性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27080" y="1645920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γ情境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207568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一般情況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732520" y="207568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0.40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829800" y="207568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0.30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927080" y="2075688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35240" y="250545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重大事件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32520" y="250545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0.10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829800" y="250545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0.30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927080" y="2505456"/>
            <a:ext cx="1051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0.60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703320"/>
            <a:ext cx="11795760" cy="2286000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502920" y="373075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③ 最終保底 + 正規化（確保每個行動都有最低機率，所有機率加起來 = 1）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4133088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步驟1 合併：P原始(a) = α×P行程 + β×P慣性 + γ×P情境 + δ×P學習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4471416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步驟2 保底：final_prob(a) = max(P原始(a), MIN_PROB_FLOOR)   where MIN_PROB_FLOOR = 0.005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4809744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          → 就算機率算出來是0，也給每個行動至少 0.5% 的機會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2920" y="5148072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步驟3 正規化：total = 所有行動機率加總，p(a) = round(p(a) / total, 4)   → 確保總和=1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02920" y="5486400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步驟4 對話目標：採樣到「對話」且有人在旁邊 → target = 第一個同地點角色；沒人 → 重新採樣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A1A2E"/>
                </a:solidFill>
              </a:rPr>
              <a:t>Layer 3a｜完整計算範例：Amy 早上 8:30 在咖啡廳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577840" cy="21031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當下情境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時間：08:30（第3天）   地點：咖啡廳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35608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行程計畫：{08:30, 賣咖啡, 咖啡廳}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最近做過的事：["前往","整理店面","賣咖啡","賣咖啡"]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YOLO 看到：「1個客人、1個杯子、1個咖啡機」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68296"/>
            <a:ext cx="53035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旁邊有誰：無   心情：平靜   有重大事件：否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5577840" cy="1691640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A. 行程表分數 (schedule)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賣咖啡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6324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完全符合行程 → 1.0 → softmax(T=0.4)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3375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≈ 0.62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work類（收銀/補貨）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63240" y="3703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同類別 → 0.5 → softmax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7033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各≈ 0.09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其他行動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063240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不相關 → 0.0 → softmax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40690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各≈ 0.01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971800"/>
            <a:ext cx="5577840" cy="1691640"/>
          </a:xfrm>
          <a:prstGeom prst="rect">
            <a:avLst/>
          </a:prstGeom>
          <a:solidFill>
            <a:srgbClr val="0F3460">
              <a:alpha val="8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2" name="Text 20"/>
          <p:cNvSpPr/>
          <p:nvPr/>
        </p:nvSpPr>
        <p:spPr>
          <a:xfrm>
            <a:off x="6309360" y="29992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B. 行為慣性 (inertia)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3375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現在動詞 = "賣咖啡"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915400" y="33375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觀察轉移歷史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33375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7033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賣咖啡 → 賣咖啡 count=2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915400" y="37033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log(2)≈0.693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81360" y="37033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≈ 0.45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09360" y="40690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其他行動 count=1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915400" y="40690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log(1)=0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881360" y="40690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≈ 0.028 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00600"/>
            <a:ext cx="5577840" cy="1691640"/>
          </a:xfrm>
          <a:prstGeom prst="rect">
            <a:avLst/>
          </a:prstGeom>
          <a:solidFill>
            <a:srgbClr val="E94560">
              <a:alpha val="8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C. 情境分數 (situation)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5166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賣咖啡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063240" y="5166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「客人」+「咖啡」命中 2次 → +0.30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0" y="51663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≈ 0.38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55321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收銀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063240" y="5532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「客人」命中 1次 → +0.15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0" y="55321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≈ 0.28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89788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對話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063240" y="589788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旁邊沒人 → 不加分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0" y="589788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≈ 0.02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4800600"/>
            <a:ext cx="5577840" cy="1691640"/>
          </a:xfrm>
          <a:prstGeom prst="rect">
            <a:avLst/>
          </a:prstGeom>
          <a:solidFill>
            <a:srgbClr val="E17055">
              <a:alpha val="8000"/>
            </a:srgbClr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6309360" y="4828032"/>
            <a:ext cx="5394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7055"/>
                </a:solidFill>
              </a:rPr>
              <a:t>D. 學習分數 (value, δ=0)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309360" y="51663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沒有 RL 記錄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915400" y="516636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均勻分布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881360" y="516636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無效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09360" y="553212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δ = 0.0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915400" y="553212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不參與計算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881360" y="5532120"/>
            <a:ext cx="868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—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126480" y="749808"/>
            <a:ext cx="6035040" cy="2103120"/>
          </a:xfrm>
          <a:prstGeom prst="rect">
            <a:avLst/>
          </a:prstGeom>
          <a:solidFill>
            <a:srgbClr val="1A1A2E">
              <a:alpha val="92000"/>
            </a:srgbClr>
          </a:solidFill>
          <a:ln w="254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6263640" y="7772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四個來源混合結果（α=0.4, β=0.3, γ=0.3, δ=0）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63640" y="114300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賣咖啡：0.4×0.62 + 0.3×0.45 + 0.3×0.38 = 0.248+0.135+0.114 = 0.497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263640" y="146304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收 銀：0.4×0.09 + 0.3×0.028 + 0.3×0.28 ≈ 0.036+0.008+0.084 = 0.128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63640" y="178308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對 話：0.4×0.01 + 0.3×0.028 + 0.3×0.00 ≈ 0.004+0.008+0 = 0.012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263640" y="210312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睡 覺：上班時段壓制（ts=-1.5，scale≈0.05）→ 機率趨近保底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263640" y="2423160"/>
            <a:ext cx="5760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DCB6E"/>
                </a:solidFill>
              </a:rPr>
              <a:t>正規化後前幾名：賣咖啡≈0.507, 收銀≈0.131, 補貨≈0.082...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3b｜深思路徑：先查記憶，再讓 AI 模型做決定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795760" cy="14173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9552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① auto_query_nodes — 決定要去記憶裡查什麼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17957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把「跟現在有關的關鍵詞」收集起來當查詢節點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538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包含：角色自己 + 對話對象 + 同地點的人 + 當前位置 + 最近3筆記憶提到的名字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2821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範例：查詢節點 = ["Amy", "Ben", "咖啡廳"]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11795760" cy="141732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502920" y="230428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</a:rPr>
              <a:t>② spreading_retrieve — 在記憶網路中「擴散查找」相關記憶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8833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起點節點的活化值 = 1.0，往外傳播時按 0.4^(跳數-1) 衰減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7212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hop=1（直接相關）: activation=1.0   hop=2（間接相關）: activation=0.4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0453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過濾掉：activation &lt; 門檻值 0.3 的記憶（太模糊的不要）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74371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參數：最多跳 HAM_TRAVERSE_MAX_HOPS=2 跳，最多取 top_k=20 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449737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排序方式：活化值由高到低，相同時離起點近的優先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67328"/>
            <a:ext cx="11795760" cy="141732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81304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③ propositions_to_narrative — 把記憶翻譯成可讀的句子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970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將記憶的「5元組結構」轉成自然語言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47141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範例：{Amy, 遇見, Ben, 咖啡廳, 第3天早上} → 「你在第3天早上在咖啡廳遇見Ben。」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74573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這段文字會被塞進給 AI 模型的提示（prompt）裡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5276088"/>
            <a:ext cx="11795760" cy="141732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21" name="Text 19"/>
          <p:cNvSpPr/>
          <p:nvPr/>
        </p:nvSpPr>
        <p:spPr>
          <a:xfrm>
            <a:off x="502920" y="5321808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④ build_deliberate → 呼叫 Phi-3.5 模型推理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70585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組裝完整提示：角色人設 + 長期記憶摘要 + 今天的日記（最近5筆）+ 現在的困惑度 + 問題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598017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max_tokens 依場景設定（通常 200-500）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6254496"/>
            <a:ext cx="11338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模型輸出：action（做什麼）+ target（對誰）+ content（說什麼）+ thought（內心想法）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4｜短期記憶（STM）— 每個時間格發生的事，分三層記錄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6583680" cy="448056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一筆記憶（Turn）的結構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編號格式：D001_T003（第1天第3筆）  摘要編號：D002_T000（每天開頭的昨日摘要）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572768"/>
            <a:ext cx="6309360" cy="292608"/>
          </a:xfrm>
          <a:prstGeom prst="rect">
            <a:avLst/>
          </a:prstGeom>
          <a:solidFill>
            <a:srgbClr val="00B894">
              <a:alpha val="3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94360" y="1591056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perception（感知層 — 我看到什麼）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89280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location    → 現在在哪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8541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yolo_desc   → YOLO 偵測到什麼東西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7802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scene_text  → 場景的文字描述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862072"/>
            <a:ext cx="6309360" cy="292608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594360" y="2880360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event（事件層 — 發生了什麼 / 我做了什麼）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3182112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input_text  → 別人說的話或發生的事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47472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action      → 我做的行動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76732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target      → 行動的對象是誰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059936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content     → 我說了什麼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443984"/>
            <a:ext cx="6309360" cy="292608"/>
          </a:xfrm>
          <a:prstGeom prst="rect">
            <a:avLst/>
          </a:prstGeom>
          <a:solidFill>
            <a:srgbClr val="6C5CE7">
              <a:alpha val="3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594360" y="4462272"/>
            <a:ext cx="6217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inner（內在層 — 我心裡在想什麼）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764024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thought  → 內心的想法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500176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emotion  → 當下的情緒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32320" y="749808"/>
            <a:ext cx="5029200" cy="228600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269480" y="777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重要設定值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269480" y="117043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STM_SAFETY_LIMIT = 50  → 超過就自動整理，防止塞爆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269480" y="158191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STM_KEEP_AFTER_CONS = 5  → 每次睡覺只留最近5筆原始記錄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269480" y="199339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（其餘壓縮成昨日摘要放在最前面）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132320" y="3154680"/>
            <a:ext cx="5029200" cy="205740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7269480" y="31821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主要功能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35661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add_turn()  — 記錄一筆新事件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69480" y="388620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get_today_narrative()  — 把今天的記憶串成文章（給模型看）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269480" y="42062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get_recent_actions(n)  — 取最近N個行動（給慣性計算用）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69480" y="4526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shrink_to_summary()  — 睡覺時壓縮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269480" y="484632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is_over_safety_limit()  — 檢查有沒有超過50筆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5321808"/>
            <a:ext cx="11795760" cy="132588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502920" y="53492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記憶轉成文章的範例（_turn_to_narrative）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566928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[08:00] 在咖啡廳，看到2個人、1個杯子。  聽到：Ben對你說：早安。  對Ben說：「早安，今天想喝什麼？」  內心想：Ben看起來心情不錯（情緒：平靜）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</a:rPr>
              <a:t>Layer 4｜長期記憶（LTM）— 每個「知識點」是一個5格子結構，會慢慢淡忘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669280" cy="416052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HAM 5元組結構（一筆長期記憶長這樣）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24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36E72"/>
                </a:solidFill>
              </a:rPr>
              <a:t>靈感來源：Anderson &amp; Bower (1973) 人類聯想記憶理論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94360" y="1463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id: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"L001"  — 記憶的流水號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105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subject: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03120" y="18105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"Amy"  — 主語（誰）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relation: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1579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"遇見"  — 關係或動作（做了什麼）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5054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object: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50545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"Ben"  — 受語（對誰 / 什麼）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8529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location: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8529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"咖啡廳"  — 發生在哪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time: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"第3天 早上"  — 什麼時候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5478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strength: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354787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1.0  — 記憶強度（每天會衰減，最低0→刪除）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953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access_count: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389534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  — 被提取幾次（提取越多，衰減越慢）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42428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encoded_day: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4242816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3  — 這筆記憶是第幾天存進來的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749808"/>
            <a:ext cx="5943600" cy="2971800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355080" y="777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記憶每天會淡忘 — 但常用的忘得慢！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114300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公式：actual_decay = LTM_DECAY_RATE / (1 + access_count × 0.5)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148132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</a:rPr>
              <a:t>LTM_DECAY_RATE = 0.05（每天基礎衰減量）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提取次數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7532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每天衰減多少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195560" y="18105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說明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508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7532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0.05 / 1.0 = 0.050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195560" y="219456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完全沒用到，正常忘記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5508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2次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7532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0.05 / 2.0 = 0.025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195560" y="25786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用過2次，忘得慢一半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5508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</a:rPr>
              <a:t>10次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27532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</a:rPr>
              <a:t>0.05 / 6.0 ≈ 0.008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195560" y="296265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94"/>
                </a:solidFill>
              </a:rPr>
              <a:t>常用記憶，幾乎不會忘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3794760"/>
            <a:ext cx="5943600" cy="196596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Text 39"/>
          <p:cNvSpPr/>
          <p:nvPr/>
        </p:nvSpPr>
        <p:spPr>
          <a:xfrm>
            <a:off x="6355080" y="3822192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touch() 記憶強化 + prune() 清除舊記憶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55080" y="42062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touch()：記憶被提取時自動呼叫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355080" y="448056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→ access_count += 1（記錄又被用了一次）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355080" y="475488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→ strength 直接重置回 1.0（記憶變清晰）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355080" y="502920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prune()：每天睡覺後執行一次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355080" y="530352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→ strength &lt; LTM_FORGET_THRESHOLD(0.2) → 刪除這筆記憶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55080" y="55778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→ 效果：很久沒想起的事情，終究會遺忘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65760" y="5029200"/>
            <a:ext cx="5669280" cy="1143000"/>
          </a:xfrm>
          <a:prstGeom prst="rect">
            <a:avLst/>
          </a:prstGeom>
          <a:solidFill>
            <a:srgbClr val="FDCB6E">
              <a:alpha val="15000"/>
            </a:srgbClr>
          </a:solidFill>
          <a:ln w="127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502920" y="50566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如果從來不用這筆記憶，多少天會被遺忘？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" y="536752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strength 從 1.0 開始每天減 0.05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到 strength=0.2 需要 (1.0-0.2)/0.05 = 16 天後自動刪除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</a:rPr>
              <a:t>Layer 4｜擴散激活 — 想到一件事，相關記憶自動被「點亮」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68580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36E72"/>
                </a:solidFill>
              </a:rPr>
              <a:t>靈感來源：Anderson (1983) ACT* 理論 — 就像在黑暗房間按燈，燈光會沿著電線傳到附近的燈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6858000" cy="493776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</a:rPr>
              <a:t>BFS 擴散激活演算法（廣度優先搜尋）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① 起點：查詢節點的初始激活值 = 1.0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6479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② 建立 BFS 隊列：queue = [(節點, 跳數=1, 激活值=1.0)]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6654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③ 每次從隊列取出一個節點，計算它的傳播激活值：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6829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傳播激活值 = activation_decay^(跳數-1) = 0.4^(跳數-1)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7004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跳數=1（直接相關）: 傳播激活值 = 0.4^0 = 1.0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跳數=2（間接相關）: 傳播激活值 = 0.4^1 = 0.4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④ 同時滿足以下條件才保留這筆記憶：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57530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a. 傳播激活值 ≥ HAM_RETRIEVE_THRESHOLD = 0.3（不能太模糊）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87705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b. 跳數 ≤ HAM_TRAVERSE_MAX_HOPS = 2（不能找太遠的記憶）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4178808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 c. 這個節點還沒被訪問過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48056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⑤ 符合條件 → 加入結果：{命題內容, 激活值, 跳數}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78231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⑥ 繼續往外展開：把這個節點的鄰居加入隊列（跳數+1）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" y="5084064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⑦ 排序：激活值由高到低（越相關排越前面）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5385816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⑧ 最多返回 top_k = 20 筆記憶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1024128"/>
            <a:ext cx="4754880" cy="219456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7543800" y="105156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設定參數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4380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HAM_TRAVERSE_MAX_HOPS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24128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2（最多找2跳）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5438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HAM_ACTIVATION_DECAY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0" y="1874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0.4（每跳衰減40%）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22860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HAM_RETRIEVE_THRESHOLD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0.3（低於此不取）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54380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top_k（最多返回幾筆）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= 20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06640" y="3337560"/>
            <a:ext cx="4754880" cy="260604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543800" y="33649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範例（查 Amy + Ben + 咖啡廳）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543800" y="3767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取到的記憶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3767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跳數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652760" y="376732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激活值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43800" y="41148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Amy 遇見 Ben（咖啡廳）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098280" y="41148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52760" y="411480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1.0 ✓ 保留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43800" y="4462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Amy 暗戀 David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098280" y="4462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652760" y="4462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1.0 ✓ 保留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543800" y="48097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Ben 送給 Amy 禮物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098280" y="48097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652760" y="480974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0.4 ✓ 保留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543800" y="51572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Ben 在 超市 工作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98280" y="51572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652760" y="5157216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0.4 ✓ 保留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543800" y="5504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David 是 畫家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98280" y="5504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94560"/>
                </a:solidFill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652760" y="5504688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94560"/>
                </a:solidFill>
              </a:rPr>
              <a:t>0.16 ✗ 太遠，過濾掉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</a:rPr>
              <a:t>Layer 3a｜RL 學習機制 — 角色會從經驗中學習「哪些行動帶來好結果」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669280" cy="237744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Q 值衰減 — 舊的記憶會自動淡化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公式：V(行動) = V(行動) × VALUE_DECAY    每個時間格都執行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8132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</a:rPr>
              <a:t>VALUE_DECAY = 0.85（每格保留85%，15%淡忘）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初始 V(賣咖啡) = 0.50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 +1: 0.50 × 0.85 = 0.425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 +2: 0.425 × 0.85 = 0.361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 +5: 0.50 × 0.85⁵ ≈ 0.222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越近的行為對決策影響越大，舊的自然淡出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749808"/>
            <a:ext cx="5943600" cy="4206240"/>
          </a:xfrm>
          <a:prstGeom prst="rect">
            <a:avLst/>
          </a:prstGeom>
          <a:solidFill>
            <a:srgbClr val="FDCB6E">
              <a:alpha val="12000"/>
            </a:srgbClr>
          </a:solidFill>
          <a:ln w="1905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355080" y="7772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什麼情況會獲得正/負獎勵？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5080" y="1188720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情緒變好（從壞情緒→好情緒）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0" y="118872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+0.50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618488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情緒恢復平靜（從壞→平靜）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972800" y="161848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+0.15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048256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情緒變壞（從好/平靜→負面）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972800" y="2048256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4560"/>
                </a:solidFill>
              </a:rPr>
              <a:t>−0.45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55080" y="2478024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困惑度明顯下降（C下降 ≥ 0.12）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0972800" y="2478024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907792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困惑度突然飆高（C上升 ≥ 0.15）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972800" y="2907792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94560"/>
                </a:solidFill>
              </a:rPr>
              <a:t>−0.35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3337560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邀對話被接受（對方沒拒絕）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972800" y="3337560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+0.25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3767328"/>
            <a:ext cx="4389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行動符合今天的行程計畫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0972800" y="3767328"/>
            <a:ext cx="1097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B894"/>
                </a:solidFill>
              </a:rPr>
              <a:t>+0.20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246120"/>
            <a:ext cx="5669280" cy="192024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502920" y="327355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Q 值是怎麼更新的？（類似 Q-learning）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6393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① 每格結束後計算本格的獎勵 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" y="39136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② 所有行動的 Q 值乘以 VALUE_DECAY（全部衰減）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41879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③ 本格選的行動：Q(行動) += r（好就加，壞就減）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4622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④ Markov 的 δ 分支直接用 Q 值當分數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73659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類似：Q(s,a) ← Q(s,a) + α[r − Q(s,a)]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5285232"/>
            <a:ext cx="11795760" cy="132588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02920" y="531266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範例：Amy 被告白事件後發生什麼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562356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情緒：平靜→緊張（變壞）→ reward=-0.45   困惑度上升0.22≥0.15 → reward=-0.35   本格總獎勵=-0.80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Q(休息) += -0.80  →  下一格「休息」在 δ 分支的分數降低，Markov 更傾向選其他行動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</a:rPr>
              <a:t>Layer 4｜Weight Adapter — 角色每天睡覺後「調整自己的決策偏好」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5029200" cy="182880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每個角色的初始偏好（出廠設定）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α 行程表影響力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1170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</a:rPr>
              <a:t>0.40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β 慣性影響力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4813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</a:rPr>
              <a:t>0.30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792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γ 情境影響力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7922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</a:rPr>
              <a:t>0.20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2103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δ 學習影響力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460"/>
                </a:solidFill>
              </a:rPr>
              <a:t>0.10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77840" y="749808"/>
            <a:ext cx="6583680" cy="2560320"/>
          </a:xfrm>
          <a:prstGeom prst="rect">
            <a:avLst/>
          </a:prstGeom>
          <a:solidFill>
            <a:srgbClr val="1A1A2E">
              <a:alpha val="92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715000" y="777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CB6E"/>
                </a:solidFill>
              </a:rPr>
              <a:t>每天睡覺後的學習公式（SGD-like，梯度下降概念）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15000" y="1143000"/>
            <a:ext cx="6309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α += LR × r × (sched_p − α)    ← 今天行程表準不準？獎勵越高、命中率越高 → α往上調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β += LR × r × (iner_p  − β)    ← 今天靠慣性選的對不對？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γ += LR × r × (situ_p  − γ)    ← 今天情境判斷準不準？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δ += LR × r × (val_p   − δ)    ← 今天學習分數準不準？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LR = LEARNING_RATE = 0.05    r = 今天的總獎勵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2724912"/>
            <a:ext cx="5029200" cy="201168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502920" y="275234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更新完要做兩件事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1455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① 限制範圍（Clip）：每個權重只能在 [0.05, 0.85] 之間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46557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MIN_WEIGHT = 0.05   MAX_WEIGHT = 0.85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7856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→ 不讓某個來源完全主導或完全消失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10565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② 正規化：total = α+β+γ+δ，每個除以 total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42569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   → 確保四個加起來 = 1.0，不會影響整體機率尺度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3456432"/>
            <a:ext cx="6583680" cy="3154680"/>
          </a:xfrm>
          <a:prstGeom prst="rect">
            <a:avLst/>
          </a:prstGeom>
          <a:solidFill>
            <a:srgbClr val="F1F2F6"/>
          </a:solidFill>
          <a:ln w="12700">
            <a:solidFill>
              <a:srgbClr val="B2BEC3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5715000" y="348386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範例：Amy 第3天學習後的權重更新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15000" y="38587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出發點：α=0.40, β=0.30, γ=0.20, δ=0.10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4160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446227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今天記錄了 3 個時間格的數據：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476402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Tick1: r=+0.20, sched_p=0.62, iner_p=0.45, situ_p=0.38, val_p=0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506577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Tick2: r=-0.45, sched_p=0.30, iner_p=0.35, situ_p=0.55, val_p=0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53675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Tick3: r=+0.25, sched_p=0.50, iner_p=0.40, situ_p=0.42, val_p=0.2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56692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59710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更新後（clip+正規化）→ α≈0.39, β≈0.30, γ≈0.21, δ≈0.10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627278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→ Amy 稍微更相信「情境判斷」（γ微升），行程表影響力微降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4｜睡覺時做了什麼？— 12 步驟記憶鞏固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67512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</a:rPr>
              <a:t>靈感來源：Diekelmann &amp; Born (2010) — 人在睡覺時，大腦把今天的短期記憶「整理歸檔」成長期記憶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24128"/>
            <a:ext cx="5623560" cy="822960"/>
          </a:xfrm>
          <a:prstGeom prst="rect">
            <a:avLst/>
          </a:prstGeom>
          <a:solidFill>
            <a:srgbClr val="0F3460">
              <a:alpha val="12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457200" y="106984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① 讀取今天的日記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0817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把今天所有的短期記憶（STM）合併成一篇完整的敘述文字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56816"/>
            <a:ext cx="5623560" cy="822960"/>
          </a:xfrm>
          <a:prstGeom prst="rect">
            <a:avLst/>
          </a:prstGeom>
          <a:solidFill>
            <a:srgbClr val="0F3460">
              <a:alpha val="12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2002536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② 抽取記憶重點（HAM 5元組）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340864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用 Phi-3.5 AI 讀今天的日記，抽出「誰做了什麼、在哪」等知識點（max_tokens=500）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9504"/>
            <a:ext cx="5623560" cy="822960"/>
          </a:xfrm>
          <a:prstGeom prst="rect">
            <a:avLst/>
          </a:prstGeom>
          <a:solidFill>
            <a:srgbClr val="0F3460">
              <a:alpha val="12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57200" y="2935224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③ 篩選值得記住的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7355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讓 AI 從抽出的知識點中選出最重要的（最多5筆），max_tokens=200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5623560" cy="822960"/>
          </a:xfrm>
          <a:prstGeom prst="rect">
            <a:avLst/>
          </a:prstGeom>
          <a:solidFill>
            <a:srgbClr val="6C5CE7">
              <a:alpha val="12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57200" y="3867912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④ 寫入長期記憶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2062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ltm.encode_batch() 把篩選後的知識點加入記憶圖（MemoryGraph）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754880"/>
            <a:ext cx="5623560" cy="822960"/>
          </a:xfrm>
          <a:prstGeom prst="rect">
            <a:avLst/>
          </a:prstGeom>
          <a:solidFill>
            <a:srgbClr val="6C5CE7">
              <a:alpha val="12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⑤ 更新長期記憶摘要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" y="51389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讓 AI 重新寫一段「角色目前的人生狀態」摘要，max_tokens=80，上限200字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5687568"/>
            <a:ext cx="5623560" cy="822960"/>
          </a:xfrm>
          <a:prstGeom prst="rect">
            <a:avLst/>
          </a:prstGeom>
          <a:solidFill>
            <a:srgbClr val="6C5CE7">
              <a:alpha val="12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573328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⑥ 更新人際關係描述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607161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找出今天日記裡提到的人，讓 AI 更新跟每個人的關係狀態，max_tokens=80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1024128"/>
            <a:ext cx="5989320" cy="82296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263640" y="106984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⑦ 決定明天的情緒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40817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今天 K 峰值 &lt; 0.5 → 重置為平靜；≥0.5 → AI 推斷情緒（max_tokens=10）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1956816"/>
            <a:ext cx="5989320" cy="82296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263640" y="2002536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⑧ 生成明天的行程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34086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根據職業模板 + 長期記憶摘要，讓 AI 安排明天的時間表，max_tokens=500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2889504"/>
            <a:ext cx="5989320" cy="822960"/>
          </a:xfrm>
          <a:prstGeom prst="rect">
            <a:avLst/>
          </a:prstGeom>
          <a:solidFill>
            <a:srgbClr val="E94560">
              <a:alpha val="12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6263640" y="2935224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⑨ 檢查行程合不合理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09360" y="327355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確認必要時段（起床、睡覺）有排到，時間順序要正確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822192"/>
            <a:ext cx="5989320" cy="822960"/>
          </a:xfrm>
          <a:prstGeom prst="rect">
            <a:avLst/>
          </a:prstGeom>
          <a:solidFill>
            <a:srgbClr val="00B894">
              <a:alpha val="12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6263640" y="386791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⑩ 長期記憶老化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4206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apply_decay() 全部衰減一次；prune() 刪掉 strength &lt; 0.2 的記憶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72200" y="4754880"/>
            <a:ext cx="5989320" cy="822960"/>
          </a:xfrm>
          <a:prstGeom prst="rect">
            <a:avLst/>
          </a:prstGeom>
          <a:solidFill>
            <a:srgbClr val="00B894">
              <a:alpha val="12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6263640" y="480060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⑪ 壓縮短期記憶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513892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shrink_to_summary()：只保留昨日摘要 + 最近5筆原始記錄，其他刪掉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72200" y="5687568"/>
            <a:ext cx="5989320" cy="822960"/>
          </a:xfrm>
          <a:prstGeom prst="rect">
            <a:avLst/>
          </a:prstGeom>
          <a:solidFill>
            <a:srgbClr val="00B894">
              <a:alpha val="12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Text 36"/>
          <p:cNvSpPr/>
          <p:nvPr/>
        </p:nvSpPr>
        <p:spPr>
          <a:xfrm>
            <a:off x="6263640" y="573328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⑫ 調整決策偏好 + 翻日曆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09360" y="607161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weight_adapter.update_weights() 學習今日；character.advance_day() 日期+1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對話系統 — 別人來找你說話，要不要理他？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6858000" cy="3246120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接受對話的機率計算公式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P_accept = base + relation_bonus + leisure_bonus + work_penalty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55448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DIALOGUE_BASE_ACCEPT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11880" y="1554480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= 0.50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基礎接受率 — 不管是誰來，預設50%機率理他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DIALOGUE_RELATION_BONUS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11880" y="19933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= +0.30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9933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認識的人 / 有好感 → 接受率 +30%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432304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DIALOGUE_LEISURE_BONUS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2432304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= +0.20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43230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正在休息中 → 接受率 +20%（沒在忙）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871216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DIALOGUE_WORK_PENALTY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11880" y="2871216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= −0.30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87121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36E72"/>
                </a:solidFill>
              </a:rPr>
              <a:t>正在工作中 → 接受率 −30%（很忙不想理）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355848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36E72"/>
                </a:solidFill>
              </a:rPr>
              <a:t>DIALOGUE_MAX_TURNS = 10 → 每段對話最多 10 個來回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06640" y="749808"/>
            <a:ext cx="4754880" cy="3246120"/>
          </a:xfrm>
          <a:prstGeom prst="rect">
            <a:avLst/>
          </a:prstGeom>
          <a:solidFill>
            <a:srgbClr val="FDCB6E">
              <a:alpha val="15000"/>
            </a:srgbClr>
          </a:solidFill>
          <a:ln w="1905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7543800" y="777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實際場景計算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06640" y="1188720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7498080" y="12070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Ben 找 Amy（休閒，有好感）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0" y="1435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+ 0.30 + 0.20 = 1.00  → 100% → 一定接受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865376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498080" y="18836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Ben 找 Amy（工作中，有好感）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498080" y="21122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+ 0.30 − 0.30 = 0.50  → 50% → 可能接受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06640" y="2542032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7498080" y="2560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陌生人找 Amy（休閒）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98080" y="2788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+ 0.00 + 0.20 = 0.70  → 70% → 大概接受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406640" y="3218688"/>
            <a:ext cx="4754880" cy="594360"/>
          </a:xfrm>
          <a:prstGeom prst="rect">
            <a:avLst/>
          </a:prstGeom>
          <a:solidFill>
            <a:srgbClr val="F1F2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498080" y="32369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</a:rPr>
              <a:t>陌生人找 Amy（工作中）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498080" y="346557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0.50 + 0.00 − 0.30 = 0.20  → 20% → 大概拒絕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114800"/>
            <a:ext cx="11795760" cy="2514600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502920" y="4142232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對話從開始到結束的流程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52628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① 角色 A 被 Markov 選出「對話」行動 → 目標 = 同地點的角色 B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02920" y="484632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② 計算 P_accept，隨機決定 B 要不要接受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516636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③ B 接受：雙方的行動鎖設為 2（期間不能做其他事）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548640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④ 每個來回：A 說話 → 寫進短期記憶 → B 回應 → 寫進短期記憶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580644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⑤ 說滿 10 輪，或有人主動結束 → 行動鎖清除，各自繼續生活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02920" y="6126480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436"/>
                </a:solidFill>
              </a:rPr>
              <a:t>⑥ 結束後：reward += DIALOGUE_ACCEPT(+0.25)，寫入 RL 追蹤器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</a:rPr>
              <a:t>全程追蹤：Amy 第3天早上 8:30，一個時間格裡發生了什麼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795760" cy="896112"/>
          </a:xfrm>
          <a:prstGeom prst="rect">
            <a:avLst/>
          </a:prstGeom>
          <a:solidFill>
            <a:srgbClr val="0F3460">
              <a:alpha val="8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時間格開始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時間：D3 08:30  角色：Amy  所在地：咖啡廳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上一格做了：整理店面  情緒：平靜  手上沒有待執行的行動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00784"/>
            <a:ext cx="11795760" cy="1152144"/>
          </a:xfrm>
          <a:prstGeom prst="rect">
            <a:avLst/>
          </a:prstGeom>
          <a:solidFill>
            <a:srgbClr val="E17055">
              <a:alpha val="8000"/>
            </a:srgbClr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7055"/>
                </a:solidFill>
              </a:rPr>
              <a:t>眼睛更新（感知）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4825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YOLO 掃描：咖啡廳有1個客人、1個杯子、1個咖啡機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30428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場景描述更新完成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打斷佇列：空（沒有突發事件）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07792"/>
            <a:ext cx="11795760" cy="640080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02920" y="2944368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第一階段：執行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25526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沒有待執行的行動 → 跳過這個階段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02736"/>
            <a:ext cx="11795760" cy="1664208"/>
          </a:xfrm>
          <a:prstGeom prst="rect">
            <a:avLst/>
          </a:prstGeom>
          <a:solidFill>
            <a:srgbClr val="E94560">
              <a:alpha val="8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502920" y="3639312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第二階段：決策（計算 C 值）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95020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U=0.50（上格：賣咖啡0.55 vs 對話0.30，gap=0.25 → 有點猶豫）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0624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K=0.00（沒有衝突，沒有情緒波動）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46227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S=0.00（沒有驚訝的事，已有長期記憶）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471830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C = 0.4×0.50 + 0.3×0.00 + 0.3×0.00 = 0.20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97433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情緒平靜 → 閾值不調整，維持 0.45    K&lt;0.5 且 C=0.20 &lt; 0.45 → 走直覺路徑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5321808"/>
            <a:ext cx="11795760" cy="1664208"/>
          </a:xfrm>
          <a:prstGeom prst="rect">
            <a:avLst/>
          </a:prstGeom>
          <a:solidFill>
            <a:srgbClr val="6C5CE7">
              <a:alpha val="8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502920" y="5358384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直覺路徑：Markov 計算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5669280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α=0.40: 行程表→賣咖啡≈0.62  β=0.30: 慣性→賣咖啡≈0.45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592531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γ=0.30: 情境→賣咖啡≈0.38（「客人」+「咖啡機」都命中）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18134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混合：0.4×0.62+0.3×0.45+0.3×0.38 = 0.497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「睡覺」被早時段壓制（ts=-1.5，scale≈0.05）→ 趨近保底 0.005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669340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正規化後：賣咖啡≈0.507 → 加權隨機採樣 → 選出「賣咖啡」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7040880"/>
            <a:ext cx="11795760" cy="1408176"/>
          </a:xfrm>
          <a:prstGeom prst="rect">
            <a:avLst/>
          </a:prstGeom>
          <a:solidFill>
            <a:srgbClr val="0F3460">
              <a:alpha val="8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502920" y="707745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記憶寫入（STM）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738835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編號: D003_T005  時間: "08:30"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764438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感知層: {咖啡廳, "1客人1杯子1咖啡機", ""}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790041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事件層: {input:"", action:"賣咖啡", target:"", content:""}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8156448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內在層: {thought:"繼續工作，今天客人挺多", emotion:"平靜"}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8503920"/>
            <a:ext cx="11795760" cy="1152144"/>
          </a:xfrm>
          <a:prstGeom prst="rect">
            <a:avLst/>
          </a:prstGeom>
          <a:solidFill>
            <a:srgbClr val="00B894">
              <a:alpha val="8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502920" y="8540496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計算獎勵（RL）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8851392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行動符合行程計畫「賣咖啡」 → reward += SCHEDULE_HIT(+0.20)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9107424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情緒沒變 → 無情緒獎勵    C 變化 &lt; 0.12 → 無困惑度獎勵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" y="9363456"/>
            <a:ext cx="11430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ValueTracker.update("賣咖啡", +0.20)    全行動 × VALUE_DECAY(0.85)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完整參數速查表（所有數值來源）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5897880" cy="1828800"/>
          </a:xfrm>
          <a:prstGeom prst="rect">
            <a:avLst/>
          </a:prstGeom>
          <a:solidFill>
            <a:srgbClr val="6C5CE7">
              <a:alpha val="10000"/>
            </a:srgbClr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</a:rPr>
              <a:t>記憶容量（STM / LTM）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161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STM_SAFETY_LIMIT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834640" y="11612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50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11612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短期記憶超過50筆就自動整理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STM_KEEP_AFTER_CONS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834640" y="1508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60520" y="1508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睡覺後只保留最近5筆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LTM_DECAY_RATE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34640" y="1856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0.05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60520" y="1856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每天基礎淡忘率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2037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LTM_FORGET_THRESHOLD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22037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5CE7"/>
                </a:solidFill>
              </a:rPr>
              <a:t>0.2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60520" y="2203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低於此強度就刪除記憶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777240"/>
            <a:ext cx="5897880" cy="1481328"/>
          </a:xfrm>
          <a:prstGeom prst="rect">
            <a:avLst/>
          </a:prstGeom>
          <a:solidFill>
            <a:srgbClr val="0F3460">
              <a:alpha val="10000"/>
            </a:srgbClr>
          </a:solidFill>
          <a:ln w="1905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6400800" y="813816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460"/>
                </a:solidFill>
              </a:rPr>
              <a:t>記憶檢索（擴散激活）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46520" y="1161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HAM_TRAVERSE_MAX_HOPS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778240" y="11612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04120" y="11612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最多往外找2跳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46520" y="1508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HAM_ACTIVATION_DECAY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78240" y="1508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0.4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104120" y="1508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每跳激活值×0.4衰減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1856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HAM_RETRIEVE_THRESHOLD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78240" y="1856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460"/>
                </a:solidFill>
              </a:rPr>
              <a:t>0.3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104120" y="1856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激活值低於此不取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3063240"/>
            <a:ext cx="5897880" cy="2176272"/>
          </a:xfrm>
          <a:prstGeom prst="rect">
            <a:avLst/>
          </a:prstGeom>
          <a:solidFill>
            <a:srgbClr val="00B894">
              <a:alpha val="10000"/>
            </a:srgbClr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57200" y="3099816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</a:rPr>
              <a:t>Markov 決策引擎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44728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MARKOV_WEIGHTS_NORMAL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34640" y="344728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α:0.4 β:0.3 γ:0.3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344728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平常的四源比例（δ另計）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" y="379476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MARKOV_WEIGHTS_EVENT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834640" y="379476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α:0.1 β:0.3 γ:0.6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60520" y="379476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重大事件時情境影響大增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142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MAJOR_EVENT_K_THRESHOLD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834640" y="4142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0.60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60520" y="4142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K超過0.6才切換事件模式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4897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MIN_PROB_FLOOR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834640" y="44897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0.005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60520" y="4489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每個行動至少0.5%機率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48371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KEYWORD_BOOST_PER_HIT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834640" y="48371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</a:rPr>
              <a:t>0.15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60520" y="4837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情境關鍵字每命中+0.15分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9360" y="3758184"/>
            <a:ext cx="5897880" cy="2871216"/>
          </a:xfrm>
          <a:prstGeom prst="rect">
            <a:avLst/>
          </a:prstGeom>
          <a:solidFill>
            <a:srgbClr val="E17055">
              <a:alpha val="10000"/>
            </a:srgbClr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6400800" y="3794760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17055"/>
                </a:solidFill>
              </a:rPr>
              <a:t>RL 學習系統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446520" y="414223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VALUE_DECAY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778240" y="41422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0.85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104120" y="414223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每格Q值保留85%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46520" y="448970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REWARD_EMOTION_IMPROVE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778240" y="448970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+0.50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104120" y="448970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情緒變好的獎勵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46520" y="4837176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REWARD_EMOTION_WORSEN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778240" y="4837176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−0.45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0104120" y="4837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情緒變壞的懲罰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446520" y="518464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REWARD_CONFUSION_DROP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778240" y="518464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+0.30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104120" y="518464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困惑度降低的獎勵（Δ≥0.12）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446520" y="553212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REWARD_CONFUSION_SPIKE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8778240" y="553212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−0.35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104120" y="553212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困惑度飆高的懲罰（Δ≥0.15）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6446520" y="58795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REWARD_DIALOGUE_ACCEPT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778240" y="58795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+0.25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104120" y="587959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對話被接受的獎勵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46520" y="6227064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REWARD_SCHEDULE_HIT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778240" y="6227064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</a:rPr>
              <a:t>+0.20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0104120" y="6227064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行程計畫命中的獎勵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42900" y="5303520"/>
            <a:ext cx="5897880" cy="1481328"/>
          </a:xfrm>
          <a:prstGeom prst="rect">
            <a:avLst/>
          </a:prstGeom>
          <a:solidFill>
            <a:srgbClr val="E94560">
              <a:alpha val="10000"/>
            </a:srgbClr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9" name="Text 67"/>
          <p:cNvSpPr/>
          <p:nvPr/>
        </p:nvSpPr>
        <p:spPr>
          <a:xfrm>
            <a:off x="365760" y="5263866"/>
            <a:ext cx="5715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</a:rPr>
              <a:t>困惑度 &amp; 思考切換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411480" y="5611338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C 計算公式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2743200" y="5611338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w1·U+w2·K+w3·S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4069080" y="5611338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w1=0.4 w2=0.3 w3=0.3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411480" y="5958810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DELIBERATE_K_OVERRIDE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2743200" y="5958810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0.5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069080" y="595881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K≥0.5強制深思，不看C值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11480" y="630628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3436"/>
                </a:solidFill>
              </a:rPr>
              <a:t>EMOTION_RESET_THRESHOLD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2743200" y="630628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4560"/>
                </a:solidFill>
              </a:rPr>
              <a:t>0.5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4069080" y="6306282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</a:rPr>
              <a:t>K峰值≥0.5才讓AI推斷情緒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5位角色的認知設定 — 每個人的「深思門檻」都不一樣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角色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80467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職業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804672"/>
            <a:ext cx="137160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深思門檻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04672"/>
            <a:ext cx="347472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不同情緒下的實際閾值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0" y="804672"/>
            <a:ext cx="3840480" cy="384048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個性特色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11795760" cy="868680"/>
          </a:xfrm>
          <a:prstGeom prst="rect">
            <a:avLst/>
          </a:prstGeom>
          <a:solidFill>
            <a:srgbClr val="E94560">
              <a:alpha val="8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94560"/>
                </a:solidFill>
              </a:rPr>
              <a:t>Amy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920240" y="149047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咖啡師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1353312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4560"/>
                </a:solidFill>
              </a:rPr>
              <a:t>0.45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151790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平靜→0.45  緊張→0.55  難過→0.60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138160" y="1444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暗戀David，被Ben追求。門檻適中，偶爾會深思。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12848"/>
            <a:ext cx="11795760" cy="868680"/>
          </a:xfrm>
          <a:prstGeom prst="rect">
            <a:avLst/>
          </a:prstGeom>
          <a:solidFill>
            <a:srgbClr val="00B894">
              <a:alpha val="8000"/>
            </a:srgbClr>
          </a:solidFill>
          <a:ln w="127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258568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94"/>
                </a:solidFill>
              </a:rPr>
              <a:t>Ben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20240" y="244144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超市員工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0" y="2304288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894"/>
                </a:solidFill>
              </a:rPr>
              <a:t>0.60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24688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平靜→0.60  緊張→0.70  難過→0.75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138160" y="239572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喜歡Amy。門檻高，比較容易直覺反應，不愛想太多。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11795760" cy="868680"/>
          </a:xfrm>
          <a:prstGeom prst="rect">
            <a:avLst/>
          </a:prstGeom>
          <a:solidFill>
            <a:srgbClr val="6C5CE7">
              <a:alpha val="8000"/>
            </a:srgbClr>
          </a:solidFill>
          <a:ln w="127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57200" y="3209544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5CE7"/>
                </a:solidFill>
              </a:rPr>
              <a:t>Claire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920240" y="339242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學生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108960" y="3255264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C5CE7"/>
                </a:solidFill>
              </a:rPr>
              <a:t>0.35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480560" y="34198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平靜→0.35  緊張→0.45  難過→0.50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38160" y="33467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愛讀書思考。門檻最低，最容易觸發深思，常常想半天。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114800"/>
            <a:ext cx="11795760" cy="868680"/>
          </a:xfrm>
          <a:prstGeom prst="rect">
            <a:avLst/>
          </a:prstGeom>
          <a:solidFill>
            <a:srgbClr val="E17055">
              <a:alpha val="8000"/>
            </a:srgbClr>
          </a:solidFill>
          <a:ln w="127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17055"/>
                </a:solidFill>
              </a:rPr>
              <a:t>David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920240" y="43434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畫家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108960" y="420624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17055"/>
                </a:solidFill>
              </a:rPr>
              <a:t>0.55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480560" y="437083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平靜→0.55  緊張→0.65  難過→0.70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138160" y="42976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感性藝術家，不知Amy暗戀他。稍微愛深思。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5065776"/>
            <a:ext cx="11795760" cy="868680"/>
          </a:xfrm>
          <a:prstGeom prst="rect">
            <a:avLst/>
          </a:prstGeom>
          <a:solidFill>
            <a:srgbClr val="0F3460">
              <a:alpha val="8000"/>
            </a:srgbClr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57200" y="5111496"/>
            <a:ext cx="1280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460"/>
                </a:solidFill>
              </a:rPr>
              <a:t>Emma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920240" y="52943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436"/>
                </a:solidFill>
              </a:rPr>
              <a:t>老師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108960" y="5157216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3460"/>
                </a:solidFill>
              </a:rPr>
              <a:t>0.50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480560" y="532180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436"/>
                </a:solidFill>
              </a:rPr>
              <a:t>平靜→0.50  緊張→0.60  難過→0.65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8160" y="5248656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436"/>
                </a:solidFill>
              </a:rPr>
              <a:t>理性平衡，直覺與深思各佔一半。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6576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</a:rPr>
              <a:t>所有角色的預設情緒：「平靜」（BASELINE_EMOTION = "平靜"）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5760" y="6309360"/>
            <a:ext cx="1179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36E72"/>
                </a:solidFill>
              </a:rPr>
              <a:t>情緒更新時機：當天 K 值峰值 ≥ 0.5 才讓 AI 推斷新情緒，否則直接回歸平靜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AI-Town 系統一頁全覽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3749040" cy="1645920"/>
          </a:xfrm>
          <a:prstGeom prst="rect">
            <a:avLst/>
          </a:prstGeom>
          <a:solidFill>
            <a:srgbClr val="E17055">
              <a:alpha val="20000"/>
            </a:srgbClr>
          </a:solidFill>
          <a:ln w="254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1124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7055"/>
                </a:solidFill>
              </a:rPr>
              <a:t>感知層（眼睛）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YOLO → yolo_desc → interrupt_queue → 行動鎖 0/1/2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297680" y="1051560"/>
            <a:ext cx="3749040" cy="1645920"/>
          </a:xfrm>
          <a:prstGeom prst="rect">
            <a:avLst/>
          </a:prstGeom>
          <a:solidFill>
            <a:srgbClr val="E94560">
              <a:alpha val="20000"/>
            </a:srgbClr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4389120" y="1124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</a:rPr>
              <a:t>C值閘門（要深思嗎？）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5087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C=w1U+w2K+w3S → 直覺(Markov) 或 深思(Phi-3.5)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1051560"/>
            <a:ext cx="3749040" cy="1645920"/>
          </a:xfrm>
          <a:prstGeom prst="rect">
            <a:avLst/>
          </a:prstGeom>
          <a:solidFill>
            <a:srgbClr val="00B894">
              <a:alpha val="20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321040" y="112471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Markov直覺引擎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321040" y="150876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α行程+β慣性+γ情境+δ學習 → softmax → 保底0.005 → 採樣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3749040" cy="1645920"/>
          </a:xfrm>
          <a:prstGeom prst="rect">
            <a:avLst/>
          </a:prstGeom>
          <a:solidFill>
            <a:srgbClr val="E17055">
              <a:alpha val="20000"/>
            </a:srgbClr>
          </a:solidFill>
          <a:ln w="2540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7055"/>
                </a:solidFill>
              </a:rPr>
              <a:t>RL學習機制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每格衰減0.85 + 7種reward → Q值影響δ分支選擇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834640"/>
            <a:ext cx="3749040" cy="1645920"/>
          </a:xfrm>
          <a:prstGeom prst="rect">
            <a:avLst/>
          </a:prstGeom>
          <a:solidFill>
            <a:srgbClr val="FDCB6E">
              <a:alpha val="20000"/>
            </a:srgbClr>
          </a:solidFill>
          <a:ln w="2540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38912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DCB6E"/>
                </a:solidFill>
              </a:rPr>
              <a:t>Weight Adapter（偏好調整）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2918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每天SGD(LR=0.05)更新α/β/γ/δ → clip[0.05,0.85] → 正規化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2834640"/>
            <a:ext cx="3749040" cy="1645920"/>
          </a:xfrm>
          <a:prstGeom prst="rect">
            <a:avLst/>
          </a:prstGeom>
          <a:solidFill>
            <a:srgbClr val="6C5CE7">
              <a:alpha val="20000"/>
            </a:srgbClr>
          </a:solidFill>
          <a:ln w="254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8321040" y="29077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</a:rPr>
              <a:t>STM 短期記憶（日記）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21040" y="32918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3層記錄（感知/事件/內在） → 上限50筆 → 睡後保留5筆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617720"/>
            <a:ext cx="3749040" cy="1645920"/>
          </a:xfrm>
          <a:prstGeom prst="rect">
            <a:avLst/>
          </a:prstGeom>
          <a:solidFill>
            <a:srgbClr val="6C5CE7">
              <a:alpha val="20000"/>
            </a:srgbClr>
          </a:solidFill>
          <a:ln w="254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457200" y="4690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5CE7"/>
                </a:solidFill>
              </a:rPr>
              <a:t>LTM 長期記憶（知識）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5074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HAM 5元組 → 每天衰減 0.05/(1+ac×0.5) → 提取後強化 → 低於0.2刪除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4617720"/>
            <a:ext cx="3749040" cy="1645920"/>
          </a:xfrm>
          <a:prstGeom prst="rect">
            <a:avLst/>
          </a:prstGeom>
          <a:solidFill>
            <a:srgbClr val="0F3460">
              <a:alpha val="20000"/>
            </a:srgbClr>
          </a:solidFill>
          <a:ln w="254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389120" y="4690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</a:rPr>
              <a:t>擴散激活（找記憶）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89120" y="5074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BFS 2跳，激活0.4^(hop-1)，門檻0.3，top20 → 翻譯成句子 → 餵給模型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4617720"/>
            <a:ext cx="3749040" cy="1645920"/>
          </a:xfrm>
          <a:prstGeom prst="rect">
            <a:avLst/>
          </a:prstGeom>
          <a:solidFill>
            <a:srgbClr val="00B894">
              <a:alpha val="20000"/>
            </a:srgbClr>
          </a:solidFill>
          <a:ln w="2540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8321040" y="4690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894"/>
                </a:solidFill>
              </a:rPr>
              <a:t>睡眠鞏固（整理歸檔）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321040" y="5074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12步驟：STM日記→抽重點→存長期→更新摘要→情緒→行程→衰減→壓縮→更新權重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446520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2BEC3"/>
                </a:solidFill>
              </a:rPr>
              <a:t>理論根基：Kahneman雙歷程 × Tulving情節/語意記憶 × Anderson HAM × Anderson擴散激活 × Diekelmann睡眠鞏固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4862</Words>
  <Application>Microsoft Office PowerPoint</Application>
  <PresentationFormat>寬螢幕</PresentationFormat>
  <Paragraphs>742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 Ray</cp:lastModifiedBy>
  <cp:revision>2</cp:revision>
  <dcterms:created xsi:type="dcterms:W3CDTF">2026-05-19T12:34:10Z</dcterms:created>
  <dcterms:modified xsi:type="dcterms:W3CDTF">2026-05-19T15:35:07Z</dcterms:modified>
</cp:coreProperties>
</file>