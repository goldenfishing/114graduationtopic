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FA92E-5BA4-48AF-ABE9-BECCCC0F401C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C86A8-EB83-4C02-A487-80A461F3DE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09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系統目標與特色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模擬具備認知能力的 AI 角色在虛擬小鎮中生活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4572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系統目標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9164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50">
                <a:solidFill>
                  <a:srgbClr val="1A2E52"/>
                </a:solidFill>
              </a:rPr>
              <a:t>  • 模擬 5 個角色在虛擬小鎮中的日常生活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2E52"/>
                </a:solidFill>
              </a:rPr>
              <a:t>  • 角色具備記憶、情緒、個性差異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2E52"/>
                </a:solidFill>
              </a:rPr>
              <a:t>  • 決策融合認知科學理論（雙歷程理論）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2E52"/>
                </a:solidFill>
              </a:rPr>
              <a:t>  • 支援視覺感知輸入（YOLO + 語言模型）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2E52"/>
                </a:solidFill>
              </a:rPr>
              <a:t>  • 完整記憶生命週期：STM → 睡眠濃縮 → LTM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4572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14300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五位角色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719072"/>
            <a:ext cx="2423160" cy="749808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719072"/>
            <a:ext cx="2423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A  Amy
咖啡師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719072"/>
            <a:ext cx="2423160" cy="749808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719072"/>
            <a:ext cx="2423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B  Ben
辦公室員工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633472"/>
            <a:ext cx="2423160" cy="749808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633472"/>
            <a:ext cx="2423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C  Claire
律師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633472"/>
            <a:ext cx="2423160" cy="749808"/>
          </a:xfrm>
          <a:prstGeom prst="rect">
            <a:avLst/>
          </a:prstGeom>
          <a:solidFill>
            <a:srgbClr val="EFD9FF"/>
          </a:solidFill>
          <a:ln w="19050">
            <a:solidFill>
              <a:srgbClr val="5B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2633472"/>
            <a:ext cx="2423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D  David
廚師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547872"/>
            <a:ext cx="2423160" cy="749808"/>
          </a:xfrm>
          <a:prstGeom prst="rect">
            <a:avLst/>
          </a:prstGeom>
          <a:solidFill>
            <a:srgbClr val="CCF0F3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3547872"/>
            <a:ext cx="2423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E  Emma
超市員工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11612880" cy="59436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4663440"/>
            <a:ext cx="11612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2E52"/>
                </a:solidFill>
              </a:rPr>
              <a:t>關鍵參數：每天 20 ticks  ·  每 tick = 60 分鐘  ·  模擬時段 06:00–02:00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79" y="1143000"/>
            <a:ext cx="73025" cy="3246120"/>
          </a:xfrm>
          <a:prstGeom prst="rect">
            <a:avLst/>
          </a:prstGeom>
          <a:solidFill>
            <a:srgbClr val="005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5394960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539496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🧠 雙歷程決策
Markov(直覺) vs 模型(深思)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5394960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79" y="539496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🗄 三層記憶
STM ↔ LTM ↔ MemoryGraph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5394960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5394960"/>
            <a:ext cx="3657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💤 睡眠濃縮
12步記憶固化流程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系統架構全景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感知層 → 決策層 → 記憶層 → 協調層 → 觀察層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743200" cy="749808"/>
          </a:xfrm>
          <a:prstGeom prst="rect">
            <a:avLst/>
          </a:prstGeom>
          <a:solidFill>
            <a:srgbClr val="006D77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 err="1">
                <a:solidFill>
                  <a:srgbClr val="FFFFFF"/>
                </a:solidFill>
              </a:rPr>
              <a:t>感知層</a:t>
            </a:r>
            <a:r>
              <a:rPr sz="1200" b="1" dirty="0">
                <a:solidFill>
                  <a:srgbClr val="FFFFFF"/>
                </a:solidFill>
              </a:rPr>
              <a:t>  Perception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6D77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143000"/>
            <a:ext cx="8138160" cy="749808"/>
          </a:xfrm>
          <a:prstGeom prst="rect">
            <a:avLst/>
          </a:prstGeom>
          <a:solidFill>
            <a:srgbClr val="CCF0F3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143000"/>
            <a:ext cx="8138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1A2E52"/>
                </a:solidFill>
              </a:rPr>
              <a:t>YOLO目標偵測</a:t>
            </a:r>
            <a:r>
              <a:rPr sz="1200" b="0" dirty="0">
                <a:solidFill>
                  <a:srgbClr val="1A2E52"/>
                </a:solidFill>
              </a:rPr>
              <a:t> · </a:t>
            </a:r>
            <a:r>
              <a:rPr sz="1200" b="0" dirty="0" err="1">
                <a:solidFill>
                  <a:srgbClr val="1A2E52"/>
                </a:solidFill>
              </a:rPr>
              <a:t>PerceptionWatcher</a:t>
            </a:r>
            <a:r>
              <a:rPr sz="1200" b="0" dirty="0">
                <a:solidFill>
                  <a:srgbClr val="1A2E52"/>
                </a:solidFill>
              </a:rPr>
              <a:t> · </a:t>
            </a:r>
            <a:r>
              <a:rPr sz="1200" b="0" dirty="0" err="1">
                <a:solidFill>
                  <a:srgbClr val="1A2E52"/>
                </a:solidFill>
              </a:rPr>
              <a:t>場景文字</a:t>
            </a:r>
            <a:endParaRPr sz="1200" b="0" dirty="0">
              <a:solidFill>
                <a:srgbClr val="1A2E5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2743200" cy="749808"/>
          </a:xfrm>
          <a:prstGeom prst="rect">
            <a:avLst/>
          </a:prstGeom>
          <a:solidFill>
            <a:srgbClr val="B86A00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210312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決策層 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86A00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103120"/>
            <a:ext cx="8138160" cy="749808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2103120"/>
            <a:ext cx="8138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1A2E52"/>
                </a:solidFill>
              </a:rPr>
              <a:t>Agent.decide</a:t>
            </a:r>
            <a:r>
              <a:rPr sz="1200" b="0" dirty="0">
                <a:solidFill>
                  <a:srgbClr val="1A2E52"/>
                </a:solidFill>
              </a:rPr>
              <a:t>() · </a:t>
            </a:r>
            <a:r>
              <a:rPr sz="1200" b="0" dirty="0" err="1">
                <a:solidFill>
                  <a:srgbClr val="1A2E52"/>
                </a:solidFill>
              </a:rPr>
              <a:t>Markov引擎</a:t>
            </a:r>
            <a:r>
              <a:rPr sz="1200" b="0" dirty="0">
                <a:solidFill>
                  <a:srgbClr val="1A2E52"/>
                </a:solidFill>
              </a:rPr>
              <a:t> · </a:t>
            </a:r>
            <a:r>
              <a:rPr sz="1200" b="0" dirty="0" err="1">
                <a:solidFill>
                  <a:srgbClr val="1A2E52"/>
                </a:solidFill>
              </a:rPr>
              <a:t>困惑度評估</a:t>
            </a:r>
            <a:r>
              <a:rPr sz="1200" b="0" dirty="0">
                <a:solidFill>
                  <a:srgbClr val="1A2E52"/>
                </a:solidFill>
              </a:rPr>
              <a:t> · LLM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2743200" cy="749808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記憶層 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5CB5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063240"/>
            <a:ext cx="8138160" cy="749808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3063240"/>
            <a:ext cx="8138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A2E52"/>
                </a:solidFill>
              </a:rPr>
              <a:t>STM(</a:t>
            </a:r>
            <a:r>
              <a:rPr sz="1200" b="0" dirty="0" err="1">
                <a:solidFill>
                  <a:srgbClr val="1A2E52"/>
                </a:solidFill>
              </a:rPr>
              <a:t>敘述</a:t>
            </a:r>
            <a:r>
              <a:rPr sz="1200" b="0" dirty="0">
                <a:solidFill>
                  <a:srgbClr val="1A2E52"/>
                </a:solidFill>
              </a:rPr>
              <a:t>) · LTM(</a:t>
            </a:r>
            <a:r>
              <a:rPr sz="1200" b="0" dirty="0" err="1">
                <a:solidFill>
                  <a:srgbClr val="1A2E52"/>
                </a:solidFill>
              </a:rPr>
              <a:t>HAM命題</a:t>
            </a:r>
            <a:r>
              <a:rPr sz="1200" b="0" dirty="0">
                <a:solidFill>
                  <a:srgbClr val="1A2E52"/>
                </a:solidFill>
              </a:rPr>
              <a:t>) · </a:t>
            </a:r>
            <a:r>
              <a:rPr sz="1200" b="0" dirty="0" err="1">
                <a:solidFill>
                  <a:srgbClr val="1A2E52"/>
                </a:solidFill>
              </a:rPr>
              <a:t>MemoryGraph</a:t>
            </a:r>
            <a:r>
              <a:rPr sz="1200" b="0" dirty="0">
                <a:solidFill>
                  <a:srgbClr val="1A2E52"/>
                </a:solidFill>
              </a:rPr>
              <a:t>(圖)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23360"/>
            <a:ext cx="2743200" cy="749808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402336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協調層  Coordination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D6E3A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4023360"/>
            <a:ext cx="8138160" cy="749808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6160" y="4023360"/>
            <a:ext cx="8138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E52"/>
                </a:solidFill>
              </a:rPr>
              <a:t>AgentManager · WorldClock · 對話協調 · 中斷佇列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2743200" cy="749808"/>
          </a:xfrm>
          <a:prstGeom prst="rect">
            <a:avLst/>
          </a:prstGeom>
          <a:solidFill>
            <a:srgbClr val="5B008F"/>
          </a:solidFill>
          <a:ln w="19050">
            <a:solidFill>
              <a:srgbClr val="5B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498348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觀察層  Observation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B008F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4983480"/>
            <a:ext cx="8138160" cy="749808"/>
          </a:xfrm>
          <a:prstGeom prst="rect">
            <a:avLst/>
          </a:prstGeom>
          <a:solidFill>
            <a:srgbClr val="EFD9FF"/>
          </a:solidFill>
          <a:ln w="19050">
            <a:solidFill>
              <a:srgbClr val="5B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66160" y="4983480"/>
            <a:ext cx="81381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E52"/>
                </a:solidFill>
              </a:rPr>
              <a:t>Dashboard(7分頁) · MemoryViewer · 模擬報告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1828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27889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74903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7091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1115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E52"/>
                </a:solidFill>
              </a:rPr>
              <a:t>核心資料流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認知科學理論基礎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系統設計對應 6 大心理學 / 認知科學理論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657600" cy="731520"/>
          </a:xfrm>
          <a:prstGeom prst="rect">
            <a:avLst/>
          </a:prstGeom>
          <a:solidFill>
            <a:srgbClr val="B86A00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365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雙歷程理論
Kahneman (2011)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3657600" cy="1691640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920240"/>
            <a:ext cx="365760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System 1（直覺快思）vs System 2（深思慢想）
→ Markov直覺路徑 vs LLM深思路徑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43000"/>
            <a:ext cx="3657600" cy="73152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59" y="1143000"/>
            <a:ext cx="365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HAM 記憶模型
Anderson &amp; Bower (1973)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920240"/>
            <a:ext cx="3657600" cy="169164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59" y="1920240"/>
            <a:ext cx="365760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命題記憶以五元組存儲：
主體｜關係｜客體｜地點｜時間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43000"/>
            <a:ext cx="3657600" cy="731520"/>
          </a:xfrm>
          <a:prstGeom prst="rect">
            <a:avLst/>
          </a:prstGeom>
          <a:solidFill>
            <a:srgbClr val="006D77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143000"/>
            <a:ext cx="365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擴散激活
Anderson (1983)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657600" cy="1691640"/>
          </a:xfrm>
          <a:prstGeom prst="rect">
            <a:avLst/>
          </a:prstGeom>
          <a:solidFill>
            <a:srgbClr val="CCF0F3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65760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BFS 2-hop 激活 · 衰減係數 0.4 · 閾值 0.3
→ 相關記憶自動聯想浮現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3657600" cy="73152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3749039"/>
            <a:ext cx="365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情節 vs 語意記憶
Tulving (1972)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79"/>
            <a:ext cx="3657600" cy="169164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526279"/>
            <a:ext cx="365760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STM = 情節記憶（敘述）
LTM = 語意記憶（命題）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749039"/>
            <a:ext cx="3657600" cy="731520"/>
          </a:xfrm>
          <a:prstGeom prst="rect">
            <a:avLst/>
          </a:prstGeom>
          <a:solidFill>
            <a:srgbClr val="5B008F"/>
          </a:solidFill>
          <a:ln w="19050">
            <a:solidFill>
              <a:srgbClr val="5B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51959" y="3749039"/>
            <a:ext cx="365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睡眠記憶固化
Diekelmann &amp; Born (2010)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4526279"/>
            <a:ext cx="3657600" cy="1691640"/>
          </a:xfrm>
          <a:prstGeom prst="rect">
            <a:avLst/>
          </a:prstGeom>
          <a:solidFill>
            <a:srgbClr val="EFD9FF"/>
          </a:solidFill>
          <a:ln w="19050">
            <a:solidFill>
              <a:srgbClr val="5B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4526279"/>
            <a:ext cx="365760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睡眠中系統性提取 STM → HAM → LTM
增強重要記憶，修剪低權重命題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749039"/>
            <a:ext cx="3657600" cy="731520"/>
          </a:xfrm>
          <a:prstGeom prst="rect">
            <a:avLst/>
          </a:prstGeom>
          <a:solidFill>
            <a:srgbClr val="A81C1C"/>
          </a:solidFill>
          <a:ln w="1905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3749039"/>
            <a:ext cx="365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情緒基線重置
Frijda (1988)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526279"/>
            <a:ext cx="3657600" cy="1691640"/>
          </a:xfrm>
          <a:prstGeom prst="rect">
            <a:avLst/>
          </a:prstGeom>
          <a:solidFill>
            <a:srgbClr val="FFE0E0"/>
          </a:solidFill>
          <a:ln w="1905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4526279"/>
            <a:ext cx="365760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睡眠後情緒趨向基線（平靜）
若困惑度 K &lt; 0.5 則重置情緒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記憶系統三層架構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STM（工作記憶）→ 睡眠濃縮 → LTM（長期記憶）+ MemoryGraph（激活網路）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474720" cy="50292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STM  短期記憶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2E52"/>
                </a:solidFill>
              </a:rPr>
              <a:t>  · 結構：turn_id / time / perception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2E52"/>
                </a:solidFill>
              </a:rPr>
              <a:t>  ·        event / inner（thought+emotion）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2E52"/>
                </a:solidFill>
              </a:rPr>
              <a:t>  · 安全上限：50 筆 turns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2E52"/>
                </a:solidFill>
              </a:rPr>
              <a:t>  · 睡後保留：摘要 + 最近 5 筆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2E52"/>
                </a:solidFill>
              </a:rPr>
              <a:t>  · 格式：自然語言敘述（情節記憶）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143000"/>
            <a:ext cx="3474720" cy="50292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14300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LTM  長期記憶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3736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2E52"/>
                </a:solidFill>
              </a:rPr>
              <a:t>  · 格式：HAM 五元組命題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2E52"/>
                </a:solidFill>
              </a:rPr>
              <a:t>  ·   主體｜關係｜客體｜地點｜時間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2E52"/>
                </a:solidFill>
              </a:rPr>
              <a:t>  · 權重：初始 0.5，強化 × 1.3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2E52"/>
                </a:solidFill>
              </a:rPr>
              <a:t>  · 剪枝：weight &lt; 0.2 時淘汰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2E52"/>
                </a:solidFill>
              </a:rPr>
              <a:t>  · 查詢：擴散激活（BFS 2-hop）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72000"/>
            <a:ext cx="10972800" cy="457200"/>
          </a:xfrm>
          <a:prstGeom prst="rect">
            <a:avLst/>
          </a:prstGeom>
          <a:solidFill>
            <a:srgbClr val="006D77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MemoryGraph（激活網路）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1206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▸ 主體 / 客體 → 節點；命題 → 有向邊（帶權重）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▸ 擴散激活：seed → BFS 2跳 → 衰減 0.4 → 閾值 0.3 過濾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▸ 用途：decide() 時檢索相關記憶 供 prompt 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短期記憶（STM）詳解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情節式工作記憶 · 每 tick 寫入 · 安全上限 50 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45720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STM Turn 結構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1645920" cy="530352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691640"/>
            <a:ext cx="1645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A2E52"/>
                </a:solidFill>
              </a:rPr>
              <a:t>turn_id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691640"/>
            <a:ext cx="35661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691640"/>
            <a:ext cx="3566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A2E52"/>
                </a:solidFill>
              </a:rPr>
              <a:t>D001_T003  （天 + </a:t>
            </a:r>
            <a:r>
              <a:rPr sz="1200" b="0" dirty="0" err="1">
                <a:solidFill>
                  <a:srgbClr val="1A2E52"/>
                </a:solidFill>
              </a:rPr>
              <a:t>輪次編號</a:t>
            </a:r>
            <a:r>
              <a:rPr sz="1200" b="0" dirty="0">
                <a:solidFill>
                  <a:srgbClr val="1A2E52"/>
                </a:solidFill>
              </a:rPr>
              <a:t>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50008"/>
            <a:ext cx="1645920" cy="530352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2350008"/>
            <a:ext cx="1645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A2E52"/>
                </a:solidFill>
              </a:rPr>
              <a:t>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350008"/>
            <a:ext cx="35661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2350008"/>
            <a:ext cx="3566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E52"/>
                </a:solidFill>
              </a:rPr>
              <a:t>14:00  （當前模擬時刻）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08376"/>
            <a:ext cx="1645920" cy="530352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3008376"/>
            <a:ext cx="1645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A2E52"/>
                </a:solidFill>
              </a:rPr>
              <a:t>perception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008376"/>
            <a:ext cx="35661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0" y="3008376"/>
            <a:ext cx="3566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A2E52"/>
                </a:solidFill>
              </a:rPr>
              <a:t>location / </a:t>
            </a:r>
            <a:r>
              <a:rPr sz="1200" b="0" dirty="0" err="1">
                <a:solidFill>
                  <a:srgbClr val="1A2E52"/>
                </a:solidFill>
              </a:rPr>
              <a:t>yolo_desc</a:t>
            </a:r>
            <a:r>
              <a:rPr sz="1200" b="0" dirty="0">
                <a:solidFill>
                  <a:srgbClr val="1A2E52"/>
                </a:solidFill>
              </a:rPr>
              <a:t> / </a:t>
            </a:r>
            <a:r>
              <a:rPr sz="1200" b="0" dirty="0" err="1">
                <a:solidFill>
                  <a:srgbClr val="1A2E52"/>
                </a:solidFill>
              </a:rPr>
              <a:t>scene_text</a:t>
            </a:r>
            <a:endParaRPr sz="1200" b="0" dirty="0">
              <a:solidFill>
                <a:srgbClr val="1A2E5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666744"/>
            <a:ext cx="1645920" cy="530352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3666744"/>
            <a:ext cx="1645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A2E52"/>
                </a:solidFill>
              </a:rPr>
              <a:t>event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666744"/>
            <a:ext cx="35661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11680" y="3666744"/>
            <a:ext cx="3566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E52"/>
                </a:solidFill>
              </a:rPr>
              <a:t>input_text / action / target / content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25112"/>
            <a:ext cx="1645920" cy="530352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4325112"/>
            <a:ext cx="1645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A2E52"/>
                </a:solidFill>
              </a:rPr>
              <a:t>inner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4325112"/>
            <a:ext cx="35661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11680" y="4325112"/>
            <a:ext cx="3566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E52"/>
                </a:solidFill>
              </a:rPr>
              <a:t>thought / emotion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143000"/>
            <a:ext cx="5943600" cy="45720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0" y="114300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STM 生命週期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1719072"/>
            <a:ext cx="2834640" cy="192024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1719072"/>
            <a:ext cx="283464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>
                <a:solidFill>
                  <a:srgbClr val="1A2E52"/>
                </a:solidFill>
              </a:rPr>
              <a:t>◆ 每 tick </a:t>
            </a:r>
            <a:r>
              <a:rPr sz="1150" b="0" dirty="0" err="1">
                <a:solidFill>
                  <a:srgbClr val="1A2E52"/>
                </a:solidFill>
              </a:rPr>
              <a:t>寫入</a:t>
            </a:r>
            <a:r>
              <a:rPr sz="1150" b="0" dirty="0">
                <a:solidFill>
                  <a:srgbClr val="1A2E52"/>
                </a:solidFill>
              </a:rPr>
              <a:t>
decide() 與 </a:t>
            </a:r>
            <a:r>
              <a:rPr sz="1150" b="0" dirty="0" err="1">
                <a:solidFill>
                  <a:srgbClr val="1A2E52"/>
                </a:solidFill>
              </a:rPr>
              <a:t>generate_dialogue_response</a:t>
            </a:r>
            <a:r>
              <a:rPr sz="1150" b="0" dirty="0">
                <a:solidFill>
                  <a:srgbClr val="1A2E52"/>
                </a:solidFill>
              </a:rPr>
              <a:t>()
</a:t>
            </a:r>
            <a:r>
              <a:rPr sz="1150" b="0" dirty="0" err="1">
                <a:solidFill>
                  <a:srgbClr val="1A2E52"/>
                </a:solidFill>
              </a:rPr>
              <a:t>結束後呼叫</a:t>
            </a:r>
            <a:r>
              <a:rPr sz="1150" b="0" dirty="0">
                <a:solidFill>
                  <a:srgbClr val="1A2E52"/>
                </a:solidFill>
              </a:rPr>
              <a:t> _</a:t>
            </a:r>
            <a:r>
              <a:rPr sz="1150" b="0" dirty="0" err="1">
                <a:solidFill>
                  <a:srgbClr val="1A2E52"/>
                </a:solidFill>
              </a:rPr>
              <a:t>write_stm_entry</a:t>
            </a:r>
            <a:r>
              <a:rPr sz="1150" b="0" dirty="0">
                <a:solidFill>
                  <a:srgbClr val="1A2E52"/>
                </a:solidFill>
              </a:rPr>
              <a:t>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1719072"/>
            <a:ext cx="2834640" cy="192024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06840" y="2279082"/>
            <a:ext cx="2834640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>
                <a:solidFill>
                  <a:srgbClr val="1A2E52"/>
                </a:solidFill>
              </a:rPr>
              <a:t>◆ </a:t>
            </a:r>
            <a:r>
              <a:rPr sz="1150" b="0" dirty="0" err="1">
                <a:solidFill>
                  <a:srgbClr val="1A2E52"/>
                </a:solidFill>
              </a:rPr>
              <a:t>容量控制</a:t>
            </a:r>
            <a:r>
              <a:rPr sz="1150" b="0" dirty="0">
                <a:solidFill>
                  <a:srgbClr val="1A2E52"/>
                </a:solidFill>
              </a:rPr>
              <a:t>
</a:t>
            </a:r>
            <a:r>
              <a:rPr sz="1150" b="0" dirty="0" err="1">
                <a:solidFill>
                  <a:srgbClr val="1A2E52"/>
                </a:solidFill>
              </a:rPr>
              <a:t>add_turn</a:t>
            </a:r>
            <a:r>
              <a:rPr sz="1150" b="0" dirty="0">
                <a:solidFill>
                  <a:srgbClr val="1A2E52"/>
                </a:solidFill>
              </a:rPr>
              <a:t>() </a:t>
            </a:r>
            <a:r>
              <a:rPr sz="1150" b="0" dirty="0" err="1">
                <a:solidFill>
                  <a:srgbClr val="1A2E52"/>
                </a:solidFill>
              </a:rPr>
              <a:t>最多保留</a:t>
            </a:r>
            <a:r>
              <a:rPr sz="1150" b="0" dirty="0">
                <a:solidFill>
                  <a:srgbClr val="1A2E52"/>
                </a:solidFill>
              </a:rPr>
              <a:t> 50 筆
</a:t>
            </a:r>
            <a:r>
              <a:rPr sz="1150" b="0" dirty="0" err="1">
                <a:solidFill>
                  <a:srgbClr val="1A2E52"/>
                </a:solidFill>
              </a:rPr>
              <a:t>超過自動</a:t>
            </a:r>
            <a:r>
              <a:rPr lang="zh-TW" altLang="en-US" sz="1150" b="0" dirty="0">
                <a:solidFill>
                  <a:srgbClr val="1A2E52"/>
                </a:solidFill>
              </a:rPr>
              <a:t>濃縮</a:t>
            </a:r>
            <a:r>
              <a:rPr sz="1150" b="0" dirty="0" err="1">
                <a:solidFill>
                  <a:srgbClr val="1A2E52"/>
                </a:solidFill>
              </a:rPr>
              <a:t>最舊記錄</a:t>
            </a:r>
            <a:endParaRPr sz="1150" b="0" dirty="0">
              <a:solidFill>
                <a:srgbClr val="1A2E5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89320" y="3913631"/>
            <a:ext cx="2834640" cy="1920240"/>
          </a:xfrm>
          <a:prstGeom prst="rect">
            <a:avLst/>
          </a:prstGeom>
          <a:solidFill>
            <a:srgbClr val="EFD9FF"/>
          </a:solidFill>
          <a:ln w="19050">
            <a:solidFill>
              <a:srgbClr val="5B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9320" y="3913631"/>
            <a:ext cx="283464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>
                <a:solidFill>
                  <a:srgbClr val="1A2E52"/>
                </a:solidFill>
              </a:rPr>
              <a:t>◆ </a:t>
            </a:r>
            <a:r>
              <a:rPr sz="1150" b="0" dirty="0" err="1">
                <a:solidFill>
                  <a:srgbClr val="1A2E52"/>
                </a:solidFill>
              </a:rPr>
              <a:t>睡眠時濃縮</a:t>
            </a:r>
            <a:r>
              <a:rPr sz="1150" b="0" dirty="0">
                <a:solidFill>
                  <a:srgbClr val="1A2E52"/>
                </a:solidFill>
              </a:rPr>
              <a:t>
consolidate() </a:t>
            </a:r>
            <a:r>
              <a:rPr sz="1150" b="0" dirty="0" err="1">
                <a:solidFill>
                  <a:srgbClr val="1A2E52"/>
                </a:solidFill>
              </a:rPr>
              <a:t>提取</a:t>
            </a:r>
            <a:r>
              <a:rPr sz="1150" b="0" dirty="0">
                <a:solidFill>
                  <a:srgbClr val="1A2E52"/>
                </a:solidFill>
              </a:rPr>
              <a:t> HAM </a:t>
            </a:r>
            <a:r>
              <a:rPr sz="1150" b="0" dirty="0" err="1">
                <a:solidFill>
                  <a:srgbClr val="1A2E52"/>
                </a:solidFill>
              </a:rPr>
              <a:t>命題</a:t>
            </a:r>
            <a:r>
              <a:rPr sz="1150" b="0" dirty="0">
                <a:solidFill>
                  <a:srgbClr val="1A2E52"/>
                </a:solidFill>
              </a:rPr>
              <a:t>
</a:t>
            </a:r>
            <a:r>
              <a:rPr sz="1150" b="0" dirty="0" err="1">
                <a:solidFill>
                  <a:srgbClr val="1A2E52"/>
                </a:solidFill>
              </a:rPr>
              <a:t>寫入</a:t>
            </a:r>
            <a:r>
              <a:rPr sz="1150" b="0" dirty="0">
                <a:solidFill>
                  <a:srgbClr val="1A2E52"/>
                </a:solidFill>
              </a:rPr>
              <a:t> LTM &amp; </a:t>
            </a:r>
            <a:r>
              <a:rPr sz="1150" b="0" dirty="0" err="1">
                <a:solidFill>
                  <a:srgbClr val="1A2E52"/>
                </a:solidFill>
              </a:rPr>
              <a:t>MemoryGraph</a:t>
            </a:r>
            <a:endParaRPr sz="1150" b="0" dirty="0">
              <a:solidFill>
                <a:srgbClr val="1A2E52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006840" y="3913631"/>
            <a:ext cx="2834640" cy="1920240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06840" y="3913631"/>
            <a:ext cx="283464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>
                <a:solidFill>
                  <a:srgbClr val="1A2E52"/>
                </a:solidFill>
              </a:rPr>
              <a:t>◆ </a:t>
            </a:r>
            <a:r>
              <a:rPr sz="1150" b="0" dirty="0" err="1">
                <a:solidFill>
                  <a:srgbClr val="1A2E52"/>
                </a:solidFill>
              </a:rPr>
              <a:t>睡後清理</a:t>
            </a:r>
            <a:r>
              <a:rPr sz="1150" b="0" dirty="0">
                <a:solidFill>
                  <a:srgbClr val="1A2E52"/>
                </a:solidFill>
              </a:rPr>
              <a:t>
</a:t>
            </a:r>
            <a:r>
              <a:rPr sz="1150" b="0" dirty="0" err="1">
                <a:solidFill>
                  <a:srgbClr val="1A2E52"/>
                </a:solidFill>
              </a:rPr>
              <a:t>shrink_to_summary</a:t>
            </a:r>
            <a:r>
              <a:rPr sz="1150" b="0" dirty="0">
                <a:solidFill>
                  <a:srgbClr val="1A2E52"/>
                </a:solidFill>
              </a:rPr>
              <a:t>() </a:t>
            </a:r>
            <a:r>
              <a:rPr sz="1150" b="0" dirty="0" err="1">
                <a:solidFill>
                  <a:srgbClr val="1A2E52"/>
                </a:solidFill>
              </a:rPr>
              <a:t>保留</a:t>
            </a:r>
            <a:r>
              <a:rPr sz="1150" b="0" dirty="0">
                <a:solidFill>
                  <a:srgbClr val="1A2E52"/>
                </a:solidFill>
              </a:rPr>
              <a:t>
</a:t>
            </a:r>
            <a:r>
              <a:rPr sz="1150" b="0" dirty="0" err="1">
                <a:solidFill>
                  <a:srgbClr val="1A2E52"/>
                </a:solidFill>
              </a:rPr>
              <a:t>摘要</a:t>
            </a:r>
            <a:r>
              <a:rPr sz="1150" b="0" dirty="0">
                <a:solidFill>
                  <a:srgbClr val="1A2E52"/>
                </a:solidFill>
              </a:rPr>
              <a:t> + </a:t>
            </a:r>
            <a:r>
              <a:rPr sz="1150" b="0" dirty="0" err="1">
                <a:solidFill>
                  <a:srgbClr val="1A2E52"/>
                </a:solidFill>
              </a:rPr>
              <a:t>最近</a:t>
            </a:r>
            <a:r>
              <a:rPr sz="1150" b="0" dirty="0">
                <a:solidFill>
                  <a:srgbClr val="1A2E52"/>
                </a:solidFill>
              </a:rPr>
              <a:t> 5 </a:t>
            </a:r>
            <a:r>
              <a:rPr sz="1150" b="0" dirty="0" err="1">
                <a:solidFill>
                  <a:srgbClr val="1A2E52"/>
                </a:solidFill>
              </a:rPr>
              <a:t>筆（節省上下文</a:t>
            </a:r>
            <a:r>
              <a:rPr sz="1150" b="0" dirty="0">
                <a:solidFill>
                  <a:srgbClr val="1A2E52"/>
                </a:solidFill>
              </a:rPr>
              <a:t>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217920"/>
            <a:ext cx="11612880" cy="50292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217920"/>
            <a:ext cx="11612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A2E52"/>
                </a:solidFill>
              </a:rPr>
              <a:t>設計原則：STM 只記「體驗」（敘述），process_log 另存「決策元數據」（困惑度/機率），兩者分離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長期記憶（LTM）&amp; HAM 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Human Associative Memory（Anderson &amp; Bower, 1973）· 命題五元組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45720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HAM </a:t>
            </a:r>
            <a:r>
              <a:rPr sz="1400" b="1" dirty="0" err="1">
                <a:solidFill>
                  <a:srgbClr val="FFFFFF"/>
                </a:solidFill>
              </a:rPr>
              <a:t>命題格式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914400" cy="749808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719072"/>
            <a:ext cx="9144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2E52"/>
                </a:solidFill>
              </a:rPr>
              <a:t>主體
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874519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|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719072"/>
            <a:ext cx="914400" cy="749808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1719072"/>
            <a:ext cx="9144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2E52"/>
                </a:solidFill>
              </a:rPr>
              <a:t>關係
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1874519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|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1719072"/>
            <a:ext cx="914400" cy="749808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23160" y="1719072"/>
            <a:ext cx="9144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2E52"/>
                </a:solidFill>
              </a:rPr>
              <a:t>客體
Object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1" y="1874519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|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1719072"/>
            <a:ext cx="914400" cy="749808"/>
          </a:xfrm>
          <a:prstGeom prst="rect">
            <a:avLst/>
          </a:prstGeom>
          <a:solidFill>
            <a:srgbClr val="CCF0F3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1719072"/>
            <a:ext cx="9144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2E52"/>
                </a:solidFill>
              </a:rPr>
              <a:t>地點
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1874519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|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79" y="1719072"/>
            <a:ext cx="914400" cy="749808"/>
          </a:xfrm>
          <a:prstGeom prst="rect">
            <a:avLst/>
          </a:prstGeom>
          <a:solidFill>
            <a:srgbClr val="EFD9FF"/>
          </a:solidFill>
          <a:ln w="19050">
            <a:solidFill>
              <a:srgbClr val="5B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79" y="1719072"/>
            <a:ext cx="9144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2E52"/>
                </a:solidFill>
              </a:rPr>
              <a:t>時間
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06040"/>
            <a:ext cx="53035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2606040"/>
            <a:ext cx="5303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1A2E52"/>
                </a:solidFill>
              </a:rPr>
              <a:t>範例：Amy</a:t>
            </a:r>
            <a:r>
              <a:rPr sz="1200" b="0" dirty="0">
                <a:solidFill>
                  <a:srgbClr val="1A2E52"/>
                </a:solidFill>
              </a:rPr>
              <a:t>  ｜  </a:t>
            </a:r>
            <a:r>
              <a:rPr sz="1200" b="0" dirty="0" err="1">
                <a:solidFill>
                  <a:srgbClr val="1A2E52"/>
                </a:solidFill>
              </a:rPr>
              <a:t>感到</a:t>
            </a:r>
            <a:r>
              <a:rPr sz="1200" b="0" dirty="0">
                <a:solidFill>
                  <a:srgbClr val="1A2E52"/>
                </a:solidFill>
              </a:rPr>
              <a:t>  ｜  </a:t>
            </a:r>
            <a:r>
              <a:rPr sz="1200" b="0" dirty="0" err="1">
                <a:solidFill>
                  <a:srgbClr val="1A2E52"/>
                </a:solidFill>
              </a:rPr>
              <a:t>疲憊</a:t>
            </a:r>
            <a:r>
              <a:rPr sz="1200" b="0" dirty="0">
                <a:solidFill>
                  <a:srgbClr val="1A2E52"/>
                </a:solidFill>
              </a:rPr>
              <a:t>  ｜  </a:t>
            </a:r>
            <a:r>
              <a:rPr sz="1200" b="0" dirty="0" err="1">
                <a:solidFill>
                  <a:srgbClr val="1A2E52"/>
                </a:solidFill>
              </a:rPr>
              <a:t>咖啡廳</a:t>
            </a:r>
            <a:r>
              <a:rPr sz="1200" b="0" dirty="0">
                <a:solidFill>
                  <a:srgbClr val="1A2E52"/>
                </a:solidFill>
              </a:rPr>
              <a:t>  ｜  </a:t>
            </a:r>
            <a:r>
              <a:rPr sz="1200" b="0" dirty="0" err="1">
                <a:solidFill>
                  <a:srgbClr val="1A2E52"/>
                </a:solidFill>
              </a:rPr>
              <a:t>下午</a:t>
            </a:r>
            <a:endParaRPr sz="1200" b="0" dirty="0">
              <a:solidFill>
                <a:srgbClr val="1A2E5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3246120"/>
            <a:ext cx="5303520" cy="45720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324612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LTM 核心操作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79476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dirty="0">
                <a:solidFill>
                  <a:srgbClr val="1A2E52"/>
                </a:solidFill>
              </a:rPr>
              <a:t>  ○ </a:t>
            </a:r>
            <a:r>
              <a:rPr sz="1200" dirty="0" err="1">
                <a:solidFill>
                  <a:srgbClr val="1A2E52"/>
                </a:solidFill>
              </a:rPr>
              <a:t>add_proposition</a:t>
            </a:r>
            <a:r>
              <a:rPr sz="1200" dirty="0">
                <a:solidFill>
                  <a:srgbClr val="1A2E52"/>
                </a:solidFill>
              </a:rPr>
              <a:t>()     — </a:t>
            </a:r>
            <a:r>
              <a:rPr sz="1200" dirty="0" err="1">
                <a:solidFill>
                  <a:srgbClr val="1A2E52"/>
                </a:solidFill>
              </a:rPr>
              <a:t>新增／強化</a:t>
            </a:r>
            <a:r>
              <a:rPr sz="1200" dirty="0">
                <a:solidFill>
                  <a:srgbClr val="1A2E52"/>
                </a:solidFill>
              </a:rPr>
              <a:t>（× 1.3）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2E52"/>
                </a:solidFill>
              </a:rPr>
              <a:t>  ○ query()               — </a:t>
            </a:r>
            <a:r>
              <a:rPr sz="1200" dirty="0" err="1">
                <a:solidFill>
                  <a:srgbClr val="1A2E52"/>
                </a:solidFill>
              </a:rPr>
              <a:t>語意查詢（關鍵詞比對</a:t>
            </a:r>
            <a:r>
              <a:rPr sz="1200" dirty="0">
                <a:solidFill>
                  <a:srgbClr val="1A2E52"/>
                </a:solidFill>
              </a:rPr>
              <a:t>）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2E52"/>
                </a:solidFill>
              </a:rPr>
              <a:t>  ○ </a:t>
            </a:r>
            <a:r>
              <a:rPr sz="1200" dirty="0" err="1">
                <a:solidFill>
                  <a:srgbClr val="1A2E52"/>
                </a:solidFill>
              </a:rPr>
              <a:t>spreading_activate</a:t>
            </a:r>
            <a:r>
              <a:rPr sz="1200" dirty="0">
                <a:solidFill>
                  <a:srgbClr val="1A2E52"/>
                </a:solidFill>
              </a:rPr>
              <a:t>()  — </a:t>
            </a:r>
            <a:r>
              <a:rPr sz="1200" dirty="0" err="1">
                <a:solidFill>
                  <a:srgbClr val="1A2E52"/>
                </a:solidFill>
              </a:rPr>
              <a:t>擴散激活</a:t>
            </a:r>
            <a:endParaRPr sz="1200" dirty="0">
              <a:solidFill>
                <a:srgbClr val="1A2E52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2E52"/>
                </a:solidFill>
              </a:rPr>
              <a:t>  ○ prune()               — </a:t>
            </a:r>
            <a:r>
              <a:rPr sz="1200" dirty="0" err="1">
                <a:solidFill>
                  <a:srgbClr val="1A2E52"/>
                </a:solidFill>
              </a:rPr>
              <a:t>剪枝（weight</a:t>
            </a:r>
            <a:r>
              <a:rPr sz="1200" dirty="0">
                <a:solidFill>
                  <a:srgbClr val="1A2E52"/>
                </a:solidFill>
              </a:rPr>
              <a:t> &lt; 0.2）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2E52"/>
                </a:solidFill>
              </a:rPr>
              <a:t>  ○ </a:t>
            </a:r>
            <a:r>
              <a:rPr sz="1200" dirty="0" err="1">
                <a:solidFill>
                  <a:srgbClr val="1A2E52"/>
                </a:solidFill>
              </a:rPr>
              <a:t>get_summary</a:t>
            </a:r>
            <a:r>
              <a:rPr sz="1200" dirty="0">
                <a:solidFill>
                  <a:srgbClr val="1A2E52"/>
                </a:solidFill>
              </a:rPr>
              <a:t>()         — </a:t>
            </a:r>
            <a:r>
              <a:rPr sz="1200" dirty="0" err="1">
                <a:solidFill>
                  <a:srgbClr val="1A2E52"/>
                </a:solidFill>
              </a:rPr>
              <a:t>生成文字摘要供</a:t>
            </a:r>
            <a:r>
              <a:rPr sz="1200" dirty="0">
                <a:solidFill>
                  <a:srgbClr val="1A2E52"/>
                </a:solidFill>
              </a:rPr>
              <a:t> prompt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143000"/>
            <a:ext cx="5943600" cy="457200"/>
          </a:xfrm>
          <a:prstGeom prst="rect">
            <a:avLst/>
          </a:prstGeom>
          <a:solidFill>
            <a:srgbClr val="006D77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0" y="114300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擴散激活（Spreading Activation）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1719072"/>
            <a:ext cx="1097280" cy="1005840"/>
          </a:xfrm>
          <a:prstGeom prst="rect">
            <a:avLst/>
          </a:prstGeom>
          <a:solidFill>
            <a:srgbClr val="006D77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89320" y="1719072"/>
            <a:ext cx="1097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1947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6D77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1719072"/>
            <a:ext cx="4160520" cy="1005840"/>
          </a:xfrm>
          <a:prstGeom prst="rect">
            <a:avLst/>
          </a:prstGeom>
          <a:solidFill>
            <a:srgbClr val="CCF0F3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0" y="1719072"/>
            <a:ext cx="4160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 err="1">
                <a:solidFill>
                  <a:srgbClr val="1A2E52"/>
                </a:solidFill>
              </a:rPr>
              <a:t>輸入種子節點（seed</a:t>
            </a:r>
            <a:r>
              <a:rPr sz="1150" b="0" dirty="0">
                <a:solidFill>
                  <a:srgbClr val="1A2E52"/>
                </a:solidFill>
              </a:rPr>
              <a:t>）
從 STM/perception </a:t>
            </a:r>
            <a:r>
              <a:rPr sz="1150" b="0" dirty="0" err="1">
                <a:solidFill>
                  <a:srgbClr val="1A2E52"/>
                </a:solidFill>
              </a:rPr>
              <a:t>提取關鍵詞</a:t>
            </a:r>
            <a:endParaRPr sz="1150" b="0" dirty="0">
              <a:solidFill>
                <a:srgbClr val="1A2E5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09360" y="27706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6D77"/>
                </a:solidFill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907791"/>
            <a:ext cx="1097280" cy="100584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89320" y="2907791"/>
            <a:ext cx="1097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1363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5CB5"/>
                </a:solidFill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2907791"/>
            <a:ext cx="4160520" cy="100584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2907791"/>
            <a:ext cx="4160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BFS 第 1 跳：相鄰命題
激活分 = 節點分 × 命題權重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9593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5CB5"/>
                </a:solidFill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4096512"/>
            <a:ext cx="1097280" cy="100584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89320" y="4096512"/>
            <a:ext cx="1097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325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D6E3A"/>
                </a:solidFill>
              </a:rPr>
              <a:t>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4096512"/>
            <a:ext cx="4160520" cy="100584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0" y="4096512"/>
            <a:ext cx="4160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>
                <a:solidFill>
                  <a:srgbClr val="1A2E52"/>
                </a:solidFill>
              </a:rPr>
              <a:t>BFS 第 2 </a:t>
            </a:r>
            <a:r>
              <a:rPr sz="1150" b="0" dirty="0" err="1">
                <a:solidFill>
                  <a:srgbClr val="1A2E52"/>
                </a:solidFill>
              </a:rPr>
              <a:t>跳：衰減</a:t>
            </a:r>
            <a:r>
              <a:rPr sz="1150" b="0" dirty="0">
                <a:solidFill>
                  <a:srgbClr val="1A2E52"/>
                </a:solidFill>
              </a:rPr>
              <a:t> × 0.4
</a:t>
            </a:r>
            <a:r>
              <a:rPr sz="1150" b="0" dirty="0" err="1">
                <a:solidFill>
                  <a:srgbClr val="1A2E52"/>
                </a:solidFill>
              </a:rPr>
              <a:t>防止過度泛化</a:t>
            </a:r>
            <a:endParaRPr sz="1150" b="0" dirty="0">
              <a:solidFill>
                <a:srgbClr val="1A2E52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09360" y="51480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D6E3A"/>
                </a:solidFill>
              </a:rPr>
              <a:t>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5285232"/>
            <a:ext cx="1097280" cy="1005840"/>
          </a:xfrm>
          <a:prstGeom prst="rect">
            <a:avLst/>
          </a:prstGeom>
          <a:solidFill>
            <a:srgbClr val="B86A00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89320" y="5285232"/>
            <a:ext cx="1097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5513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86A00"/>
                </a:solidFill>
              </a:rPr>
              <a:t>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5285232"/>
            <a:ext cx="4160520" cy="1005840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89520" y="5285232"/>
            <a:ext cx="4160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 err="1">
                <a:solidFill>
                  <a:srgbClr val="1A2E52"/>
                </a:solidFill>
              </a:rPr>
              <a:t>閾值</a:t>
            </a:r>
            <a:r>
              <a:rPr sz="1150" b="0" dirty="0">
                <a:solidFill>
                  <a:srgbClr val="1A2E52"/>
                </a:solidFill>
              </a:rPr>
              <a:t> 0.3 </a:t>
            </a:r>
            <a:r>
              <a:rPr sz="1150" b="0" dirty="0" err="1">
                <a:solidFill>
                  <a:srgbClr val="1A2E52"/>
                </a:solidFill>
              </a:rPr>
              <a:t>過濾</a:t>
            </a:r>
            <a:r>
              <a:rPr sz="1150" b="0" dirty="0">
                <a:solidFill>
                  <a:srgbClr val="1A2E52"/>
                </a:solidFill>
              </a:rPr>
              <a:t>
</a:t>
            </a:r>
            <a:r>
              <a:rPr sz="1150" b="0" dirty="0" err="1">
                <a:solidFill>
                  <a:srgbClr val="1A2E52"/>
                </a:solidFill>
              </a:rPr>
              <a:t>回傳高相關命題列表</a:t>
            </a:r>
            <a:endParaRPr sz="1150" b="0" dirty="0">
              <a:solidFill>
                <a:srgbClr val="1A2E5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雙歷程決策架構（Dual Process Theory）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Kahneman (2011)：System 1 直覺快思 vs System 2 深思慢想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97280"/>
            <a:ext cx="36576" cy="52120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486400" cy="64008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System 1  </a:t>
            </a:r>
            <a:r>
              <a:rPr sz="1600" b="1" dirty="0" err="1">
                <a:solidFill>
                  <a:srgbClr val="FFFFFF"/>
                </a:solidFill>
              </a:rPr>
              <a:t>直覺路徑（Markov</a:t>
            </a:r>
            <a:r>
              <a:rPr sz="1600" b="1" dirty="0">
                <a:solidFill>
                  <a:srgbClr val="FFFFFF"/>
                </a:solidFill>
              </a:rPr>
              <a:t>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5760720" cy="640080"/>
          </a:xfrm>
          <a:prstGeom prst="rect">
            <a:avLst/>
          </a:prstGeom>
          <a:solidFill>
            <a:srgbClr val="B86A00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097280"/>
            <a:ext cx="5760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System 2  </a:t>
            </a:r>
            <a:r>
              <a:rPr sz="1600" b="1" dirty="0" err="1">
                <a:solidFill>
                  <a:srgbClr val="FFFFFF"/>
                </a:solidFill>
              </a:rPr>
              <a:t>深思路徑（LLM</a:t>
            </a:r>
            <a:r>
              <a:rPr sz="1600" b="1" dirty="0">
                <a:solidFill>
                  <a:srgbClr val="FFFFFF"/>
                </a:solidFill>
              </a:rPr>
              <a:t>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874519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0D6E3A"/>
                </a:solidFill>
              </a:rPr>
              <a:t>  ✓ 觸發條件：C 值 &lt; threshold（低困惑）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D6E3A"/>
                </a:solidFill>
              </a:rPr>
              <a:t>  ✓ 輸入：三源 Markov 機率分布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D6E3A"/>
                </a:solidFill>
              </a:rPr>
              <a:t>  ✓ 輸出：直接採樣行動（sample_action）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D6E3A"/>
                </a:solidFill>
              </a:rPr>
              <a:t>  ✓ 不呼叫語言模型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D6E3A"/>
                </a:solidFill>
              </a:rPr>
              <a:t>  ✓ 速度快、資源消耗低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D6E3A"/>
                </a:solidFill>
              </a:rPr>
              <a:t>  ✓ 適合日常慣例行為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74519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B86A00"/>
                </a:solidFill>
              </a:rPr>
              <a:t>  ✓ 觸發條件：C 值 ≥ threshold（高困惑）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86A00"/>
                </a:solidFill>
              </a:rPr>
              <a:t>  ✓ 輸入：完整 prompt（記憶+感知+情境）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86A00"/>
                </a:solidFill>
              </a:rPr>
              <a:t>  ✓ 輸出：LLM 生成 ACTION/TARGET/CONTENT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86A00"/>
                </a:solidFill>
              </a:rPr>
              <a:t>  ✓ 含 THOUGHT 內心想法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86A00"/>
                </a:solidFill>
              </a:rPr>
              <a:t>  ✓ 含 HAM 命題（記憶更新素材）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86A00"/>
                </a:solidFill>
              </a:rPr>
              <a:t>  ✓ 處理新奇、衝突、社交等複雜情境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251960"/>
            <a:ext cx="5760720" cy="4572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0" y="4251960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決策模式切換機制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773168"/>
            <a:ext cx="5760720" cy="96012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4773168"/>
            <a:ext cx="5760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>
                <a:solidFill>
                  <a:srgbClr val="1A2E52"/>
                </a:solidFill>
              </a:rPr>
              <a:t>C 值 = f(U, K, S)  ←困惑度評估引擎
U = 行動不確定性  ·  K = 情境異常程度  ·  S = 情境壓力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663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D6E3A"/>
                </a:solidFill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80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6E3A"/>
                </a:solidFill>
              </a:rPr>
              <a:t>C &lt;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663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86A00"/>
                </a:solidFill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480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86A00"/>
                </a:solidFill>
              </a:rPr>
              <a:t>C ≥ 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943600"/>
            <a:ext cx="11612880" cy="658368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5943600"/>
            <a:ext cx="11612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>
                <a:solidFill>
                  <a:srgbClr val="1A2E52"/>
                </a:solidFill>
              </a:rPr>
              <a:t>⚙  Threshold 動態調整：基礎值 0.5 · 情緒不穩 ±0.1 · 重大事件 ↓ threshold → 更容易觸發 System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Markov </a:t>
            </a:r>
            <a:r>
              <a:rPr sz="2800" b="1" dirty="0" err="1">
                <a:solidFill>
                  <a:srgbClr val="FFFFFF"/>
                </a:solidFill>
              </a:rPr>
              <a:t>引擎：三源加權行動機率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三源分布線性疊加 → 加入情緒 / 感知 修正 → 採樣行動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4572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1161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核心公式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64208"/>
            <a:ext cx="116128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487168"/>
            <a:ext cx="3657600" cy="749808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487168"/>
            <a:ext cx="3657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α × </a:t>
            </a:r>
            <a:r>
              <a:rPr sz="1300" b="1" dirty="0" err="1">
                <a:solidFill>
                  <a:srgbClr val="FFFFFF"/>
                </a:solidFill>
              </a:rPr>
              <a:t>P_schedule</a:t>
            </a:r>
            <a:r>
              <a:rPr sz="1300" b="1" dirty="0">
                <a:solidFill>
                  <a:srgbClr val="FFFFFF"/>
                </a:solidFill>
              </a:rPr>
              <a:t>
（</a:t>
            </a:r>
            <a:r>
              <a:rPr sz="1300" b="1" dirty="0" err="1">
                <a:solidFill>
                  <a:srgbClr val="FFFFFF"/>
                </a:solidFill>
              </a:rPr>
              <a:t>時間表</a:t>
            </a:r>
            <a:r>
              <a:rPr sz="1300" b="1" dirty="0">
                <a:solidFill>
                  <a:srgbClr val="FFFFFF"/>
                </a:solidFill>
              </a:rPr>
              <a:t>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3657600" cy="13716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3291840"/>
            <a:ext cx="3657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A2E52"/>
                </a:solidFill>
              </a:rPr>
              <a:t>α = 0.4（一般）/ 0.1（重大事件）
</a:t>
            </a:r>
            <a:r>
              <a:rPr sz="1200" b="0" dirty="0" err="1">
                <a:solidFill>
                  <a:srgbClr val="1A2E52"/>
                </a:solidFill>
              </a:rPr>
              <a:t>依當前時間段查角色時間表</a:t>
            </a:r>
            <a:r>
              <a:rPr sz="1200" b="0" dirty="0">
                <a:solidFill>
                  <a:srgbClr val="1A2E52"/>
                </a:solidFill>
              </a:rPr>
              <a:t>
</a:t>
            </a:r>
            <a:r>
              <a:rPr sz="1200" b="0" dirty="0" err="1">
                <a:solidFill>
                  <a:srgbClr val="1A2E52"/>
                </a:solidFill>
              </a:rPr>
              <a:t>取對應行動分布</a:t>
            </a:r>
            <a:endParaRPr sz="1200" b="0" dirty="0">
              <a:solidFill>
                <a:srgbClr val="1A2E5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1959" y="2487168"/>
            <a:ext cx="3657600" cy="749808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2487168"/>
            <a:ext cx="3657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β × </a:t>
            </a:r>
            <a:r>
              <a:rPr sz="1300" b="1" dirty="0" err="1">
                <a:solidFill>
                  <a:srgbClr val="FFFFFF"/>
                </a:solidFill>
              </a:rPr>
              <a:t>P_inertia</a:t>
            </a:r>
            <a:r>
              <a:rPr sz="1300" b="1" dirty="0">
                <a:solidFill>
                  <a:srgbClr val="FFFFFF"/>
                </a:solidFill>
              </a:rPr>
              <a:t>
（</a:t>
            </a:r>
            <a:r>
              <a:rPr sz="1300" b="1" dirty="0" err="1">
                <a:solidFill>
                  <a:srgbClr val="FFFFFF"/>
                </a:solidFill>
              </a:rPr>
              <a:t>行動慣性</a:t>
            </a:r>
            <a:r>
              <a:rPr sz="1300" b="1" dirty="0">
                <a:solidFill>
                  <a:srgbClr val="FFFFFF"/>
                </a:solidFill>
              </a:rPr>
              <a:t>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291840"/>
            <a:ext cx="3657600" cy="137160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59" y="3291840"/>
            <a:ext cx="3657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A2E52"/>
                </a:solidFill>
              </a:rPr>
              <a:t>β = 0.3
</a:t>
            </a:r>
            <a:r>
              <a:rPr sz="1200" b="0" dirty="0" err="1">
                <a:solidFill>
                  <a:srgbClr val="1A2E52"/>
                </a:solidFill>
              </a:rPr>
              <a:t>加強最近</a:t>
            </a:r>
            <a:r>
              <a:rPr sz="1200" b="0" dirty="0">
                <a:solidFill>
                  <a:srgbClr val="1A2E52"/>
                </a:solidFill>
              </a:rPr>
              <a:t> N </a:t>
            </a:r>
            <a:r>
              <a:rPr sz="1200" b="0" dirty="0" err="1">
                <a:solidFill>
                  <a:srgbClr val="1A2E52"/>
                </a:solidFill>
              </a:rPr>
              <a:t>筆行動的機率</a:t>
            </a:r>
            <a:r>
              <a:rPr sz="1200" b="0" dirty="0">
                <a:solidFill>
                  <a:srgbClr val="1A2E52"/>
                </a:solidFill>
              </a:rPr>
              <a:t>
</a:t>
            </a:r>
            <a:r>
              <a:rPr sz="1200" b="0" dirty="0" err="1">
                <a:solidFill>
                  <a:srgbClr val="1A2E52"/>
                </a:solidFill>
              </a:rPr>
              <a:t>模擬行為連續性</a:t>
            </a:r>
            <a:endParaRPr sz="1200" b="0" dirty="0">
              <a:solidFill>
                <a:srgbClr val="1A2E5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0" y="2487168"/>
            <a:ext cx="3657600" cy="749808"/>
          </a:xfrm>
          <a:prstGeom prst="rect">
            <a:avLst/>
          </a:prstGeom>
          <a:solidFill>
            <a:srgbClr val="B86A00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2487168"/>
            <a:ext cx="3657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γ × P_situation
（情境）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A2E52"/>
                </a:solidFill>
              </a:rPr>
              <a:t>γ = 0.3（一般）/ 0.6（重大事件）
</a:t>
            </a:r>
            <a:r>
              <a:rPr sz="1200" b="0" dirty="0" err="1">
                <a:solidFill>
                  <a:srgbClr val="1A2E52"/>
                </a:solidFill>
              </a:rPr>
              <a:t>共同在場人物</a:t>
            </a:r>
            <a:r>
              <a:rPr sz="1200" b="0" dirty="0">
                <a:solidFill>
                  <a:srgbClr val="1A2E52"/>
                </a:solidFill>
              </a:rPr>
              <a:t> → </a:t>
            </a:r>
            <a:r>
              <a:rPr sz="1200" b="0" dirty="0" err="1">
                <a:solidFill>
                  <a:srgbClr val="1A2E52"/>
                </a:solidFill>
              </a:rPr>
              <a:t>加強對話機率</a:t>
            </a:r>
            <a:r>
              <a:rPr sz="1200" b="0" dirty="0">
                <a:solidFill>
                  <a:srgbClr val="1A2E52"/>
                </a:solidFill>
              </a:rPr>
              <a:t>
</a:t>
            </a:r>
            <a:r>
              <a:rPr sz="1200" b="0" dirty="0" err="1">
                <a:solidFill>
                  <a:srgbClr val="1A2E52"/>
                </a:solidFill>
              </a:rPr>
              <a:t>感知到特殊事物</a:t>
            </a:r>
            <a:r>
              <a:rPr sz="1200" b="0" dirty="0">
                <a:solidFill>
                  <a:srgbClr val="1A2E52"/>
                </a:solidFill>
              </a:rPr>
              <a:t> → </a:t>
            </a:r>
            <a:r>
              <a:rPr sz="1200" b="0" dirty="0" err="1">
                <a:solidFill>
                  <a:srgbClr val="1A2E52"/>
                </a:solidFill>
              </a:rPr>
              <a:t>調整行動</a:t>
            </a:r>
            <a:endParaRPr sz="1200" b="0" dirty="0">
              <a:solidFill>
                <a:srgbClr val="1A2E5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20240" y="4709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5CB5"/>
                </a:solidFill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709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D6E3A"/>
                </a:solidFill>
              </a:rP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709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86A00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5029200"/>
            <a:ext cx="3931920" cy="50292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0" y="502920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加權疊加 → 正規化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623560"/>
            <a:ext cx="3749039" cy="594360"/>
          </a:xfrm>
          <a:prstGeom prst="rect">
            <a:avLst/>
          </a:prstGeom>
          <a:solidFill>
            <a:srgbClr val="F2F4F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5623560"/>
            <a:ext cx="374903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情緒修正：情緒偵測 → 調整特定行動分布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5623560"/>
            <a:ext cx="3749039" cy="594360"/>
          </a:xfrm>
          <a:prstGeom prst="rect">
            <a:avLst/>
          </a:prstGeom>
          <a:solidFill>
            <a:srgbClr val="F2F4F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1959" y="5623560"/>
            <a:ext cx="374903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感知修正：YOLO / 場景文字 → 加成/減分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5623560"/>
            <a:ext cx="3749039" cy="594360"/>
          </a:xfrm>
          <a:prstGeom prst="rect">
            <a:avLst/>
          </a:prstGeom>
          <a:solidFill>
            <a:srgbClr val="F2F4F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5623560"/>
            <a:ext cx="374903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地板機率：MIN_PROB_FLOOR = 0.005（每個行動保持最低機率）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291072"/>
            <a:ext cx="11612880" cy="457200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6291072"/>
            <a:ext cx="1161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A2E52"/>
                </a:solidFill>
              </a:rPr>
              <a:t>重大事件（K ≥ 0.6）：α↓0.1  γ↑0.6  →  更依賴當下情境，更少依賴時間表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</a:rPr>
              <a:t>困惑度評估系統（C</a:t>
            </a:r>
            <a:r>
              <a:rPr sz="2800" b="1" dirty="0">
                <a:solidFill>
                  <a:srgbClr val="FFFFFF"/>
                </a:solidFill>
              </a:rPr>
              <a:t> 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決定走 System 1（直覺）還是 System 2（深思）的核心機制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474720" cy="749808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3474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U
</a:t>
            </a:r>
            <a:r>
              <a:rPr sz="1500" b="1" dirty="0" err="1">
                <a:solidFill>
                  <a:srgbClr val="FFFFFF"/>
                </a:solidFill>
              </a:rPr>
              <a:t>行動不確定性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947672"/>
            <a:ext cx="3474720" cy="13716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947672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1A2E52"/>
                </a:solidFill>
              </a:rPr>
              <a:t>Markov </a:t>
            </a:r>
            <a:r>
              <a:rPr sz="1200" b="0" dirty="0" err="1">
                <a:solidFill>
                  <a:srgbClr val="1A2E52"/>
                </a:solidFill>
              </a:rPr>
              <a:t>機率分布的熵值</a:t>
            </a:r>
            <a:r>
              <a:rPr sz="1200" b="0" dirty="0">
                <a:solidFill>
                  <a:srgbClr val="1A2E52"/>
                </a:solidFill>
              </a:rPr>
              <a:t>
</a:t>
            </a:r>
            <a:r>
              <a:rPr sz="1200" b="0" dirty="0" err="1">
                <a:solidFill>
                  <a:srgbClr val="1A2E52"/>
                </a:solidFill>
              </a:rPr>
              <a:t>行動分布越分散</a:t>
            </a:r>
            <a:r>
              <a:rPr sz="1200" b="0" dirty="0">
                <a:solidFill>
                  <a:srgbClr val="1A2E52"/>
                </a:solidFill>
              </a:rPr>
              <a:t> → U </a:t>
            </a:r>
            <a:r>
              <a:rPr sz="1200" b="0" dirty="0" err="1">
                <a:solidFill>
                  <a:srgbClr val="1A2E52"/>
                </a:solidFill>
              </a:rPr>
              <a:t>越高</a:t>
            </a:r>
            <a:r>
              <a:rPr sz="1200" b="0" dirty="0">
                <a:solidFill>
                  <a:srgbClr val="1A2E52"/>
                </a:solidFill>
              </a:rPr>
              <a:t>
</a:t>
            </a:r>
            <a:r>
              <a:rPr sz="1200" b="0" dirty="0" err="1">
                <a:solidFill>
                  <a:srgbClr val="1A2E52"/>
                </a:solidFill>
              </a:rPr>
              <a:t>越難「直觀」決定</a:t>
            </a:r>
            <a:endParaRPr sz="1200" b="0" dirty="0">
              <a:solidFill>
                <a:srgbClr val="1A2E5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0" y="33649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5CB5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474720" cy="749808"/>
          </a:xfrm>
          <a:prstGeom prst="rect">
            <a:avLst/>
          </a:prstGeom>
          <a:solidFill>
            <a:srgbClr val="B86A00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59" y="1143000"/>
            <a:ext cx="3474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K
情境異常程度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947672"/>
            <a:ext cx="3474720" cy="1371600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59" y="1947672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E52"/>
                </a:solidFill>
              </a:rPr>
              <a:t>感知與 LTM 的偏差
「出現陌生人」「異常場景」
K ≥ 0.6 → 重大事件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649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86A00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43000"/>
            <a:ext cx="3474720" cy="749808"/>
          </a:xfrm>
          <a:prstGeom prst="rect">
            <a:avLst/>
          </a:prstGeom>
          <a:solidFill>
            <a:srgbClr val="A81C1C"/>
          </a:solidFill>
          <a:ln w="1905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143000"/>
            <a:ext cx="3474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
情境壓力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47672"/>
            <a:ext cx="3474720" cy="1371600"/>
          </a:xfrm>
          <a:prstGeom prst="rect">
            <a:avLst/>
          </a:prstGeom>
          <a:solidFill>
            <a:srgbClr val="FFE0E0"/>
          </a:solidFill>
          <a:ln w="1905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947672"/>
            <a:ext cx="3474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E52"/>
                </a:solidFill>
              </a:rPr>
              <a:t>時間壓力 + 情緒強度
負面情緒 → S 上升
影響 C 的絕對值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3649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81C1C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703320"/>
            <a:ext cx="9418320" cy="658368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3703320"/>
            <a:ext cx="9418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 = w_U × U + w_K × K + w_S ×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416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2E52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4800600"/>
            <a:ext cx="3931920" cy="457200"/>
          </a:xfrm>
          <a:prstGeom prst="rect">
            <a:avLst/>
          </a:prstGeom>
          <a:solidFill>
            <a:srgbClr val="555555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0" y="4800600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與 threshold 比較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86400"/>
            <a:ext cx="4389120" cy="1078992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438912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D6E3A"/>
                </a:solidFill>
              </a:rPr>
              <a:t>C &lt; threshold
→ intuitive
→ System 1 / Markov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760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55555"/>
                </a:solidFill>
              </a:rPr>
              <a:t>vs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486400"/>
            <a:ext cx="4389120" cy="1078992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486400"/>
            <a:ext cx="438912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86A00"/>
                </a:solidFill>
              </a:rPr>
              <a:t>C ≥ threshold
→ deliberate
→ System 2 / 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800600"/>
            <a:ext cx="3657600" cy="4572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48006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A2E52"/>
                </a:solidFill>
              </a:rPr>
              <a:t>Threshold = 0.5（基礎）+ 情緒調整量 ∈ [0.3, 0.7]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每 Tick 決策流程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Agent.decide() 的完整執行步驟（每 60 分鐘執行一次）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006D77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① 取當前時段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39" y="1143000"/>
            <a:ext cx="3154680" cy="502920"/>
          </a:xfrm>
          <a:prstGeom prst="rect">
            <a:avLst/>
          </a:prstGeom>
          <a:solidFill>
            <a:srgbClr val="CCF0F3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39" y="1143000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1A2E52"/>
                </a:solidFill>
              </a:rPr>
              <a:t>character.get_current_slot</a:t>
            </a:r>
            <a:r>
              <a:rPr sz="1100" b="0" dirty="0">
                <a:solidFill>
                  <a:srgbClr val="1A2E52"/>
                </a:solidFill>
              </a:rPr>
              <a:t>()
→ </a:t>
            </a:r>
            <a:r>
              <a:rPr sz="1100" b="0" dirty="0" err="1">
                <a:solidFill>
                  <a:srgbClr val="1A2E52"/>
                </a:solidFill>
              </a:rPr>
              <a:t>時間表查詢</a:t>
            </a:r>
            <a:endParaRPr sz="1100" b="0" dirty="0">
              <a:solidFill>
                <a:srgbClr val="1A2E5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92240" y="1143000"/>
            <a:ext cx="2743200" cy="50292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1430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② </a:t>
            </a:r>
            <a:r>
              <a:rPr sz="1200" b="1" dirty="0" err="1">
                <a:solidFill>
                  <a:srgbClr val="FFFFFF"/>
                </a:solidFill>
              </a:rPr>
              <a:t>計算</a:t>
            </a:r>
            <a:r>
              <a:rPr sz="1200" b="1" dirty="0">
                <a:solidFill>
                  <a:srgbClr val="FFFFFF"/>
                </a:solidFill>
              </a:rPr>
              <a:t> Markov </a:t>
            </a:r>
            <a:r>
              <a:rPr sz="1200" b="1" dirty="0" err="1">
                <a:solidFill>
                  <a:srgbClr val="FFFFFF"/>
                </a:solidFill>
              </a:rPr>
              <a:t>分布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81159" y="1143000"/>
            <a:ext cx="3154680" cy="50292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59" y="1143000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1A2E52"/>
                </a:solidFill>
              </a:rPr>
              <a:t>compute_action_probabilities</a:t>
            </a:r>
            <a:r>
              <a:rPr sz="1100" b="0" dirty="0">
                <a:solidFill>
                  <a:srgbClr val="1A2E52"/>
                </a:solidFill>
              </a:rPr>
              <a:t>()
α·</a:t>
            </a:r>
            <a:r>
              <a:rPr sz="1100" b="0" dirty="0" err="1">
                <a:solidFill>
                  <a:srgbClr val="1A2E52"/>
                </a:solidFill>
              </a:rPr>
              <a:t>schedule+</a:t>
            </a:r>
            <a:r>
              <a:rPr sz="1100" b="0" dirty="0">
                <a:solidFill>
                  <a:srgbClr val="1A2E52"/>
                </a:solidFill>
              </a:rPr>
              <a:t>β·</a:t>
            </a:r>
            <a:r>
              <a:rPr sz="1100" b="0" dirty="0" err="1">
                <a:solidFill>
                  <a:srgbClr val="1A2E52"/>
                </a:solidFill>
              </a:rPr>
              <a:t>inertia+γ·sit</a:t>
            </a:r>
            <a:endParaRPr sz="1100" b="0" dirty="0">
              <a:solidFill>
                <a:srgbClr val="1A2E52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2468880"/>
            <a:ext cx="2743200" cy="502920"/>
          </a:xfrm>
          <a:prstGeom prst="rect">
            <a:avLst/>
          </a:prstGeom>
          <a:solidFill>
            <a:srgbClr val="B86A00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4688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③ 評估困惑度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39" y="2468880"/>
            <a:ext cx="3154680" cy="502920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63239" y="2468880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1A2E52"/>
                </a:solidFill>
              </a:rPr>
              <a:t>eval_confusion</a:t>
            </a:r>
            <a:r>
              <a:rPr sz="1100" b="0" dirty="0">
                <a:solidFill>
                  <a:srgbClr val="1A2E52"/>
                </a:solidFill>
              </a:rPr>
              <a:t>(U, K, S)
→ mode: intuitive / deliberate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468880"/>
            <a:ext cx="2743200" cy="502920"/>
          </a:xfrm>
          <a:prstGeom prst="rect">
            <a:avLst/>
          </a:prstGeom>
          <a:solidFill>
            <a:srgbClr val="A81C1C"/>
          </a:solidFill>
          <a:ln w="1905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④ 若重大事件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59" y="2468880"/>
            <a:ext cx="3154680" cy="502920"/>
          </a:xfrm>
          <a:prstGeom prst="rect">
            <a:avLst/>
          </a:prstGeom>
          <a:solidFill>
            <a:srgbClr val="FFE0E0"/>
          </a:solidFill>
          <a:ln w="1905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59" y="2468880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1A2E52"/>
                </a:solidFill>
              </a:rPr>
              <a:t>K ≥ 0.6 → </a:t>
            </a:r>
            <a:r>
              <a:rPr sz="1100" b="0" dirty="0" err="1">
                <a:solidFill>
                  <a:srgbClr val="1A2E52"/>
                </a:solidFill>
              </a:rPr>
              <a:t>切換</a:t>
            </a:r>
            <a:r>
              <a:rPr sz="1100" b="0" dirty="0">
                <a:solidFill>
                  <a:srgbClr val="1A2E52"/>
                </a:solidFill>
              </a:rPr>
              <a:t> EVENT </a:t>
            </a:r>
            <a:r>
              <a:rPr sz="1100" b="0" dirty="0" err="1">
                <a:solidFill>
                  <a:srgbClr val="1A2E52"/>
                </a:solidFill>
              </a:rPr>
              <a:t>權重</a:t>
            </a:r>
            <a:r>
              <a:rPr sz="1100" b="0" dirty="0">
                <a:solidFill>
                  <a:srgbClr val="1A2E52"/>
                </a:solidFill>
              </a:rPr>
              <a:t>
</a:t>
            </a:r>
            <a:r>
              <a:rPr sz="1100" b="0" dirty="0" err="1">
                <a:solidFill>
                  <a:srgbClr val="1A2E52"/>
                </a:solidFill>
              </a:rPr>
              <a:t>重新計算</a:t>
            </a:r>
            <a:r>
              <a:rPr sz="1100" b="0" dirty="0">
                <a:solidFill>
                  <a:srgbClr val="1A2E52"/>
                </a:solidFill>
              </a:rPr>
              <a:t> Markov </a:t>
            </a:r>
            <a:r>
              <a:rPr sz="1100" b="0" dirty="0" err="1">
                <a:solidFill>
                  <a:srgbClr val="1A2E52"/>
                </a:solidFill>
              </a:rPr>
              <a:t>分布</a:t>
            </a:r>
            <a:endParaRPr sz="1100" b="0" dirty="0">
              <a:solidFill>
                <a:srgbClr val="1A2E52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" y="3794760"/>
            <a:ext cx="2743200" cy="50292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37947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⑤ 路徑分岔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39" y="3794760"/>
            <a:ext cx="3154680" cy="50292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63239" y="3794760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1A2E52"/>
                </a:solidFill>
              </a:rPr>
              <a:t>intuitive → Markov </a:t>
            </a:r>
            <a:r>
              <a:rPr sz="1100" b="0" dirty="0" err="1">
                <a:solidFill>
                  <a:srgbClr val="1A2E52"/>
                </a:solidFill>
              </a:rPr>
              <a:t>採樣</a:t>
            </a:r>
            <a:r>
              <a:rPr sz="1100" b="0" dirty="0">
                <a:solidFill>
                  <a:srgbClr val="1A2E52"/>
                </a:solidFill>
              </a:rPr>
              <a:t>
deliberate → </a:t>
            </a:r>
            <a:r>
              <a:rPr sz="1100" b="0" dirty="0" err="1">
                <a:solidFill>
                  <a:srgbClr val="1A2E52"/>
                </a:solidFill>
              </a:rPr>
              <a:t>呼叫</a:t>
            </a:r>
            <a:r>
              <a:rPr sz="1100" b="0" dirty="0">
                <a:solidFill>
                  <a:srgbClr val="1A2E52"/>
                </a:solidFill>
              </a:rPr>
              <a:t> LLM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794760"/>
            <a:ext cx="2743200" cy="502920"/>
          </a:xfrm>
          <a:prstGeom prst="rect">
            <a:avLst/>
          </a:prstGeom>
          <a:solidFill>
            <a:srgbClr val="5B008F"/>
          </a:solidFill>
          <a:ln w="19050">
            <a:solidFill>
              <a:srgbClr val="5B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7947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⑥ 寫入 STM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59" y="3794760"/>
            <a:ext cx="3154680" cy="502920"/>
          </a:xfrm>
          <a:prstGeom prst="rect">
            <a:avLst/>
          </a:prstGeom>
          <a:solidFill>
            <a:srgbClr val="EFD9FF"/>
          </a:solidFill>
          <a:ln w="19050">
            <a:solidFill>
              <a:srgbClr val="5B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81159" y="3794760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_write_stm_entry()
敘述式記憶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20640"/>
            <a:ext cx="2743200" cy="502920"/>
          </a:xfrm>
          <a:prstGeom prst="rect">
            <a:avLst/>
          </a:prstGeom>
          <a:solidFill>
            <a:srgbClr val="555555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512064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⑦ 寫入 process_log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39" y="5120640"/>
            <a:ext cx="3154680" cy="502920"/>
          </a:xfrm>
          <a:prstGeom prst="rect">
            <a:avLst/>
          </a:prstGeom>
          <a:solidFill>
            <a:srgbClr val="F2F4F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63239" y="5120640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_write_process_log()
決策元數據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5120640"/>
            <a:ext cx="5394960" cy="141732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5120640"/>
            <a:ext cx="53949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A2E52"/>
                </a:solidFill>
              </a:rPr>
              <a:t>⑧ 設定 pending_action
→ character.set_pending_action()
→ Manager 下個 tick 執行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睡眠記憶濃縮（12 步驟）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Diekelmann &amp; Born (2010)  ·  每日模擬結束後執行  ·  consolidate()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143000"/>
            <a:ext cx="2011680" cy="68580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14300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dirty="0">
                <a:solidFill>
                  <a:srgbClr val="FFFFFF"/>
                </a:solidFill>
              </a:rPr>
              <a:t>STM → </a:t>
            </a:r>
            <a:r>
              <a:rPr sz="1150" b="1" dirty="0" err="1">
                <a:solidFill>
                  <a:srgbClr val="FFFFFF"/>
                </a:solidFill>
              </a:rPr>
              <a:t>文字快照</a:t>
            </a:r>
            <a:endParaRPr sz="1150" b="1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07792" y="1143000"/>
            <a:ext cx="2926080" cy="6858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07792" y="11430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1A2E52"/>
                </a:solidFill>
              </a:rPr>
              <a:t>將當天所有</a:t>
            </a:r>
            <a:r>
              <a:rPr sz="1100" b="0" dirty="0">
                <a:solidFill>
                  <a:srgbClr val="1A2E52"/>
                </a:solidFill>
              </a:rPr>
              <a:t> STM turns </a:t>
            </a:r>
            <a:r>
              <a:rPr sz="1100" b="0" dirty="0" err="1">
                <a:solidFill>
                  <a:srgbClr val="1A2E52"/>
                </a:solidFill>
              </a:rPr>
              <a:t>轉成純文字敘述</a:t>
            </a:r>
            <a:endParaRPr sz="1100" b="0" dirty="0">
              <a:solidFill>
                <a:srgbClr val="1A2E5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201168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011680"/>
            <a:ext cx="2011680" cy="68580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201168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dirty="0">
                <a:solidFill>
                  <a:srgbClr val="FFFFFF"/>
                </a:solidFill>
              </a:rPr>
              <a:t>HAM </a:t>
            </a:r>
            <a:r>
              <a:rPr sz="1150" b="1" dirty="0" err="1">
                <a:solidFill>
                  <a:srgbClr val="FFFFFF"/>
                </a:solidFill>
              </a:rPr>
              <a:t>命題提取</a:t>
            </a:r>
            <a:endParaRPr sz="1150" b="1" dirty="0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907792" y="2011680"/>
            <a:ext cx="2926080" cy="6858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07792" y="20116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1A2E52"/>
                </a:solidFill>
              </a:rPr>
              <a:t>用 LLM </a:t>
            </a:r>
            <a:r>
              <a:rPr sz="1100" b="0" dirty="0" err="1">
                <a:solidFill>
                  <a:srgbClr val="1A2E52"/>
                </a:solidFill>
              </a:rPr>
              <a:t>或規則從敘述中提取五元組命題</a:t>
            </a:r>
            <a:endParaRPr sz="1100" b="0" dirty="0">
              <a:solidFill>
                <a:srgbClr val="1A2E5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2880360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288036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2880360"/>
            <a:ext cx="2011680" cy="68580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288036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命題去重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07792" y="2880360"/>
            <a:ext cx="2926080" cy="6858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07792" y="288036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相同五元組 → 強化權重（× 1.3）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49039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3749039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749039"/>
            <a:ext cx="2011680" cy="68580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3749039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LTM 寫入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07792" y="3749039"/>
            <a:ext cx="2926080" cy="6858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07792" y="3749039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新命題加入長期記憶，初始 weight = 0.5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17720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461772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4617720"/>
            <a:ext cx="2011680" cy="68580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461772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LTM 剪枝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07792" y="4617720"/>
            <a:ext cx="2926080" cy="6858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07792" y="461772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weight &lt; 0.2 的命題淘汰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486400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548640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5486400"/>
            <a:ext cx="2011680" cy="68580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" y="548640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MemoryGraph 更新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07792" y="5486400"/>
            <a:ext cx="2926080" cy="6858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07792" y="54864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節點和邊同步更新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1143000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0" y="114300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93408" y="1143000"/>
            <a:ext cx="2011680" cy="68580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93408" y="114300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LTM 摘要生成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59952" y="1143000"/>
            <a:ext cx="3200400" cy="68580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59952" y="114300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get_summary() 更新供下日 prompt 使用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2011680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80" y="201168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93408" y="2011680"/>
            <a:ext cx="2011680" cy="68580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93408" y="201168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關係更新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59952" y="2011680"/>
            <a:ext cx="3200400" cy="68580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59952" y="201168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從互動記憶更新 relationship 描述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2880360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26480" y="288036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09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93408" y="2880360"/>
            <a:ext cx="2011680" cy="68580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93408" y="288036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情緒評估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59952" y="2880360"/>
            <a:ext cx="3200400" cy="68580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59952" y="288036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今日最高 K 值 → 決定是否重置情緒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3749039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26480" y="3749039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93408" y="3749039"/>
            <a:ext cx="2011680" cy="68580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93408" y="3749039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情緒重置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59952" y="3749039"/>
            <a:ext cx="3200400" cy="68580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59952" y="3749039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K &lt; 0.5 → 情緒歸 '平靜' (Frijda, 1988)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4617720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126480" y="461772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93408" y="4617720"/>
            <a:ext cx="2011680" cy="68580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693408" y="461772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dirty="0" err="1">
                <a:solidFill>
                  <a:srgbClr val="FFFFFF"/>
                </a:solidFill>
              </a:rPr>
              <a:t>時間表生成</a:t>
            </a:r>
            <a:endParaRPr sz="1150" b="1" dirty="0">
              <a:solidFill>
                <a:srgbClr val="FFFFFF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8759952" y="4617720"/>
            <a:ext cx="3200400" cy="68580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759952" y="461772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依角色角色生成次日行程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5486400"/>
            <a:ext cx="502920" cy="6858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126480" y="548640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</a:rPr>
              <a:t>12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93408" y="5486400"/>
            <a:ext cx="2011680" cy="68580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693408" y="548640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STM 清理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59952" y="5486400"/>
            <a:ext cx="3200400" cy="68580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759952" y="548640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shrink_to_summary()：保留摘要 + 5 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對話系統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邀請 → 接受判斷 → 多輪對話 → 記憶更新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651760" cy="128016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26517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邀請發起
Inviter decides
'對話'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5CB5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651760" cy="128016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143000"/>
            <a:ext cx="26517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接受判斷
should_accept
_dialogue()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D6E3A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2651760" cy="1280160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143000"/>
            <a:ext cx="26517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多輪對話
generate_dialogue
_response()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86A0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143000"/>
            <a:ext cx="2651760" cy="1280160"/>
          </a:xfrm>
          <a:prstGeom prst="rect">
            <a:avLst/>
          </a:prstGeom>
          <a:solidFill>
            <a:srgbClr val="CCF0F3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143000"/>
            <a:ext cx="26517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結束對話
寫入雙方 STM
HAM 命題更新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78608"/>
            <a:ext cx="11612880" cy="4572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2578608"/>
            <a:ext cx="1161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接受機率計算（純規則，不呼叫模型）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27248"/>
            <a:ext cx="1463040" cy="68580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3127248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基礎機率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3127248"/>
            <a:ext cx="2377440" cy="6858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83080" y="312724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DIALOGUE_BASE_ACCEPT = 0.5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127248"/>
            <a:ext cx="1463040" cy="68580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51959" y="3127248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關係加成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19" y="3127248"/>
            <a:ext cx="2377440" cy="68580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19" y="312724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+0.15（朋友/信任/喜歡等關鍵詞）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127248"/>
            <a:ext cx="1463040" cy="685800"/>
          </a:xfrm>
          <a:prstGeom prst="rect">
            <a:avLst/>
          </a:prstGeom>
          <a:solidFill>
            <a:srgbClr val="006D77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3127248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行動加成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3127248"/>
            <a:ext cx="2377440" cy="685800"/>
          </a:xfrm>
          <a:prstGeom prst="rect">
            <a:avLst/>
          </a:prstGeom>
          <a:solidFill>
            <a:srgbClr val="CCF0F3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38360" y="312724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+0.10（rest/daily 類行動）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41648"/>
            <a:ext cx="1463040" cy="685800"/>
          </a:xfrm>
          <a:prstGeom prst="rect">
            <a:avLst/>
          </a:prstGeom>
          <a:solidFill>
            <a:srgbClr val="A81C1C"/>
          </a:solidFill>
          <a:ln w="1905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4041648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工作懲罰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83080" y="4041648"/>
            <a:ext cx="2377440" cy="685800"/>
          </a:xfrm>
          <a:prstGeom prst="rect">
            <a:avLst/>
          </a:prstGeom>
          <a:solidFill>
            <a:srgbClr val="FFE0E0"/>
          </a:solidFill>
          <a:ln w="1905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83080" y="404164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-0.15（work 類行動）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59" y="4041648"/>
            <a:ext cx="1463040" cy="685800"/>
          </a:xfrm>
          <a:prstGeom prst="rect">
            <a:avLst/>
          </a:prstGeom>
          <a:solidFill>
            <a:srgbClr val="B86A00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51959" y="4041648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情緒懲罰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19" y="4041648"/>
            <a:ext cx="2377440" cy="685800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19" y="404164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-0.10（非平靜/開心/興奮情緒）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074920"/>
            <a:ext cx="11612880" cy="50292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5074920"/>
            <a:ext cx="11612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A2E52"/>
                </a:solidFill>
              </a:rPr>
              <a:t>Clamp: [0.1, 0.95]  →  random() &lt; acc → 接受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669280"/>
            <a:ext cx="11612880" cy="365760"/>
          </a:xfrm>
          <a:prstGeom prst="rect">
            <a:avLst/>
          </a:prstGeom>
          <a:solidFill>
            <a:srgbClr val="555555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5669280"/>
            <a:ext cx="11612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LLM 對話輸出格式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099048"/>
            <a:ext cx="11612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4320" y="6099048"/>
            <a:ext cx="11612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E52"/>
                </a:solidFill>
              </a:rPr>
              <a:t>[ACTION] 對話   [TARGET] Amy   [CONTENT] 你今天看起來累累的   [THOUGHT] 我想關心她   [HAM] subject|relation|object|loc|time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角色與世界時鐘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5 角色  ·  20 ticks/day  ·  06:00–02:00  ·  可多天模擬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4572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WorldClock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916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DAY_START_HOUR = 6（早上 6 點開始）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MAX_TICKS_PER_DAY = 20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MINUTES_PER_TICK = 60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time_str：HH:MM 格式（如 14:00）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tick()：每次推進 60 分鐘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day / hour / minute 屬性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43000"/>
            <a:ext cx="5943600" cy="45720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114300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Character 核心屬性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69164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· code / name / role（角色代碼/名稱/職業）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· current_location（當前位置）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· current_action（當前行動動詞）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· emotion（情緒：平靜/開心/憤怒/…）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· schedule（每日時間表列表）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· relationships（dict：對其他角色的關係）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· pending_action（已決策待執行）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2E52"/>
                </a:solidFill>
              </a:rPr>
              <a:t>  · day（當前模擬天數）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89120"/>
            <a:ext cx="11612880" cy="4572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4389120"/>
            <a:ext cx="1161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每天 20 Ticks 時間軸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" y="4956048"/>
            <a:ext cx="530352" cy="50292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5995" y="4956048"/>
            <a:ext cx="530352" cy="502920"/>
          </a:xfrm>
          <a:prstGeom prst="rect">
            <a:avLst/>
          </a:prstGeom>
          <a:solidFill>
            <a:srgbClr val="D6F0E0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995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59382" y="4956048"/>
            <a:ext cx="530352" cy="502920"/>
          </a:xfrm>
          <a:prstGeom prst="rect">
            <a:avLst/>
          </a:prstGeom>
          <a:solidFill>
            <a:srgbClr val="FFEECC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59382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42769" y="4956048"/>
            <a:ext cx="530352" cy="502920"/>
          </a:xfrm>
          <a:prstGeom prst="rect">
            <a:avLst/>
          </a:prstGeom>
          <a:solidFill>
            <a:srgbClr val="CCF0F3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42769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26156" y="4956048"/>
            <a:ext cx="530352" cy="502920"/>
          </a:xfrm>
          <a:prstGeom prst="rect">
            <a:avLst/>
          </a:prstGeom>
          <a:solidFill>
            <a:srgbClr val="EFD9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26156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9544" y="4956048"/>
            <a:ext cx="530352" cy="50292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9544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2931" y="4956048"/>
            <a:ext cx="530352" cy="502920"/>
          </a:xfrm>
          <a:prstGeom prst="rect">
            <a:avLst/>
          </a:prstGeom>
          <a:solidFill>
            <a:srgbClr val="D6F0E0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2931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6318" y="4956048"/>
            <a:ext cx="530352" cy="502920"/>
          </a:xfrm>
          <a:prstGeom prst="rect">
            <a:avLst/>
          </a:prstGeom>
          <a:solidFill>
            <a:srgbClr val="FFEECC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76318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9705" y="4956048"/>
            <a:ext cx="530352" cy="502920"/>
          </a:xfrm>
          <a:prstGeom prst="rect">
            <a:avLst/>
          </a:prstGeom>
          <a:solidFill>
            <a:srgbClr val="CCF0F3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59705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43092" y="4956048"/>
            <a:ext cx="530352" cy="502920"/>
          </a:xfrm>
          <a:prstGeom prst="rect">
            <a:avLst/>
          </a:prstGeom>
          <a:solidFill>
            <a:srgbClr val="EFD9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43092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956048"/>
            <a:ext cx="530352" cy="50292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0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09867" y="4956048"/>
            <a:ext cx="530352" cy="502920"/>
          </a:xfrm>
          <a:prstGeom prst="rect">
            <a:avLst/>
          </a:prstGeom>
          <a:solidFill>
            <a:srgbClr val="D6F0E0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09867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93254" y="4956048"/>
            <a:ext cx="530352" cy="502920"/>
          </a:xfrm>
          <a:prstGeom prst="rect">
            <a:avLst/>
          </a:prstGeom>
          <a:solidFill>
            <a:srgbClr val="FFEECC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93254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76641" y="4956048"/>
            <a:ext cx="530352" cy="502920"/>
          </a:xfrm>
          <a:prstGeom prst="rect">
            <a:avLst/>
          </a:prstGeom>
          <a:solidFill>
            <a:srgbClr val="CCF0F3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76641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60028" y="4956048"/>
            <a:ext cx="530352" cy="502920"/>
          </a:xfrm>
          <a:prstGeom prst="rect">
            <a:avLst/>
          </a:prstGeom>
          <a:solidFill>
            <a:srgbClr val="EFD9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60028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43416" y="4956048"/>
            <a:ext cx="530352" cy="50292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43416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26803" y="4956048"/>
            <a:ext cx="530352" cy="502920"/>
          </a:xfrm>
          <a:prstGeom prst="rect">
            <a:avLst/>
          </a:prstGeom>
          <a:solidFill>
            <a:srgbClr val="D6F0E0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26803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22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10190" y="4956048"/>
            <a:ext cx="530352" cy="502920"/>
          </a:xfrm>
          <a:prstGeom prst="rect">
            <a:avLst/>
          </a:prstGeom>
          <a:solidFill>
            <a:srgbClr val="FFEECC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10190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93577" y="4956048"/>
            <a:ext cx="530352" cy="502920"/>
          </a:xfrm>
          <a:prstGeom prst="rect">
            <a:avLst/>
          </a:prstGeom>
          <a:solidFill>
            <a:srgbClr val="CCF0F3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793577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A2E52"/>
                </a:solidFill>
              </a:rPr>
              <a:t>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376964" y="4956048"/>
            <a:ext cx="530352" cy="502920"/>
          </a:xfrm>
          <a:prstGeom prst="rect">
            <a:avLst/>
          </a:prstGeom>
          <a:solidFill>
            <a:srgbClr val="EFD9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376964" y="4956048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dirty="0">
                <a:solidFill>
                  <a:srgbClr val="1A2E52"/>
                </a:solidFill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55321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Tick 0      Tick 1      Tick 2      ···      Tick 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961888"/>
            <a:ext cx="11612880" cy="54864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" y="5961888"/>
            <a:ext cx="11612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dirty="0">
                <a:solidFill>
                  <a:srgbClr val="1A2E52"/>
                </a:solidFill>
              </a:rPr>
              <a:t>每 </a:t>
            </a:r>
            <a:r>
              <a:rPr sz="1250" b="1" dirty="0" err="1">
                <a:solidFill>
                  <a:srgbClr val="1A2E52"/>
                </a:solidFill>
              </a:rPr>
              <a:t>Tick：感知</a:t>
            </a:r>
            <a:r>
              <a:rPr sz="1250" b="1" dirty="0">
                <a:solidFill>
                  <a:srgbClr val="1A2E52"/>
                </a:solidFill>
              </a:rPr>
              <a:t> → decide() → </a:t>
            </a:r>
            <a:r>
              <a:rPr sz="1250" b="1" dirty="0" err="1">
                <a:solidFill>
                  <a:srgbClr val="1A2E52"/>
                </a:solidFill>
              </a:rPr>
              <a:t>執行行動</a:t>
            </a:r>
            <a:r>
              <a:rPr sz="1250" b="1" dirty="0">
                <a:solidFill>
                  <a:srgbClr val="1A2E52"/>
                </a:solidFill>
              </a:rPr>
              <a:t> → </a:t>
            </a:r>
            <a:r>
              <a:rPr sz="1250" b="1" dirty="0" err="1">
                <a:solidFill>
                  <a:srgbClr val="1A2E52"/>
                </a:solidFill>
              </a:rPr>
              <a:t>更新位置</a:t>
            </a:r>
            <a:r>
              <a:rPr sz="1250" b="1" dirty="0">
                <a:solidFill>
                  <a:srgbClr val="1A2E52"/>
                </a:solidFill>
              </a:rPr>
              <a:t>/</a:t>
            </a:r>
            <a:r>
              <a:rPr sz="1250" b="1" dirty="0" err="1">
                <a:solidFill>
                  <a:srgbClr val="1A2E52"/>
                </a:solidFill>
              </a:rPr>
              <a:t>情緒</a:t>
            </a:r>
            <a:r>
              <a:rPr sz="1250" b="1" dirty="0">
                <a:solidFill>
                  <a:srgbClr val="1A2E52"/>
                </a:solidFill>
              </a:rPr>
              <a:t> → </a:t>
            </a:r>
            <a:r>
              <a:rPr sz="1250" b="1" dirty="0" err="1">
                <a:solidFill>
                  <a:srgbClr val="1A2E52"/>
                </a:solidFill>
              </a:rPr>
              <a:t>對話協調</a:t>
            </a:r>
            <a:endParaRPr sz="1250" b="1" dirty="0">
              <a:solidFill>
                <a:srgbClr val="1A2E5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AgentManager 協調機制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多角色並行管理  ·  Two-Phase Tick  ·  中斷佇列  ·  對話協調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02920"/>
          </a:xfrm>
          <a:prstGeom prst="rect">
            <a:avLst/>
          </a:prstGeom>
          <a:solidFill>
            <a:srgbClr val="005CB5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486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1：決策階段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▸ 所有角色依序呼叫 agent.decide()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▸ 傳入 scene / perception / co_located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▸ 結果暫存至 pending_action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▸ （此時不執行，避免競態）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43000"/>
            <a:ext cx="5943600" cy="502920"/>
          </a:xfrm>
          <a:prstGeom prst="rect">
            <a:avLst/>
          </a:prstGeom>
          <a:solidFill>
            <a:srgbClr val="0D6E3A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114300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2：執行階段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73736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▸ 執行所有 pending_action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▸ 前往 → 更新 current_location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▸ 對話 → 啟動對話協調邏輯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▸ 睡覺 → 觸發 agent.sleep() 濃縮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11612880" cy="457200"/>
          </a:xfrm>
          <a:prstGeom prst="rect">
            <a:avLst/>
          </a:prstGeom>
          <a:solidFill>
            <a:srgbClr val="B86A00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3749039"/>
            <a:ext cx="1161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中斷佇列（Interrupt Queue）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315968"/>
            <a:ext cx="11612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◆ push_interrupt(code, event)：任何時間點推入中斷事件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◆ 事件屬性：type / strength（weak/medium/strong）/ data / timestamp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◆ Agent.re_evaluate_on_interrupt()：Markov 重算 → 可能改變 pending_action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◆ PerceptionWatcher：YOLO 偵測到場景變化時自動觸發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6217920"/>
            <a:ext cx="11612880" cy="530352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217920"/>
            <a:ext cx="11612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A2E52"/>
                </a:solidFill>
              </a:rPr>
              <a:t>對話協調：發起者決定'對話' → Manager 判斷對象是否在場 → 呼叫 should_accept_dialogue() → 啟動 dialogue loop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模型整合（Phi-3.5 Vision）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F"/>
                </a:solidFill>
              </a:rPr>
              <a:t>文字 + 視覺融合推論  ·  GenerationConfig  ·  FakeLoader 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D700"/>
                </a:solidFill>
              </a:rPr>
              <a:t>AI-Town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651760" cy="1371600"/>
          </a:xfrm>
          <a:prstGeom prst="rect">
            <a:avLst/>
          </a:prstGeom>
          <a:solidFill>
            <a:srgbClr val="D6E8FF"/>
          </a:solidFill>
          <a:ln w="19050">
            <a:solidFill>
              <a:srgbClr val="0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26517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TextEncoder
Phi-3.5 tokenizer
build_prompt()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16642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5CB5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143000"/>
            <a:ext cx="2651760" cy="1371600"/>
          </a:xfrm>
          <a:prstGeom prst="rect">
            <a:avLst/>
          </a:prstGeom>
          <a:solidFill>
            <a:srgbClr val="D6F0E0"/>
          </a:solidFill>
          <a:ln w="19050">
            <a:solidFill>
              <a:srgbClr val="0D6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0128" y="1143000"/>
            <a:ext cx="26517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VisionEncoder
CLIP / ViT
encode(images)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6642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D6E3A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143000"/>
            <a:ext cx="2651760" cy="1371600"/>
          </a:xfrm>
          <a:prstGeom prst="rect">
            <a:avLst/>
          </a:prstGeom>
          <a:solidFill>
            <a:srgbClr val="FFEECC"/>
          </a:solidFill>
          <a:ln w="19050">
            <a:solidFill>
              <a:srgbClr val="B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1143000"/>
            <a:ext cx="26517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FusionDecoder
fuse_inputs()
generate()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6642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86A0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8864" y="1143000"/>
            <a:ext cx="2651760" cy="1371600"/>
          </a:xfrm>
          <a:prstGeom prst="rect">
            <a:avLst/>
          </a:prstGeom>
          <a:solidFill>
            <a:srgbClr val="EFD9FF"/>
          </a:solidFill>
          <a:ln w="19050">
            <a:solidFill>
              <a:srgbClr val="5B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98864" y="1143000"/>
            <a:ext cx="26517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A2E52"/>
                </a:solidFill>
              </a:rPr>
              <a:t>Output Parser
parse_decision
_output()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97480"/>
            <a:ext cx="5486400" cy="457200"/>
          </a:xfrm>
          <a:prstGeom prst="rect">
            <a:avLst/>
          </a:prstGeom>
          <a:solidFill>
            <a:srgbClr val="1A2E52"/>
          </a:solidFill>
          <a:ln w="19050">
            <a:solidFill>
              <a:srgbClr val="1A2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269748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GenerationConfig 參數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246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deliberate()：max_new_tokens=512, temperature=0.7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dialogue()：  max_new_tokens=256, temperature=0.8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溫度越高 → 輸出越多樣（對話場景）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深思路徑需要較長輸出（含 THOUGHT+HAM）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697480"/>
            <a:ext cx="5943600" cy="457200"/>
          </a:xfrm>
          <a:prstGeom prst="rect">
            <a:avLst/>
          </a:prstGeom>
          <a:solidFill>
            <a:srgbClr val="006D77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2697480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FakeLoader（測試 / 無 GPU 環境）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246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make_model_fn() → 返回規則生成函數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自動選擇合法動詞（VALID_ACTIONS）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完整走完所有決策流程（C 值、STM、LTM）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不需要 GPU，適合開發與演示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E52"/>
                </a:solidFill>
              </a:rPr>
              <a:t>  · is_loaded() 回傳 True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577840"/>
            <a:ext cx="11612880" cy="365760"/>
          </a:xfrm>
          <a:prstGeom prst="rect">
            <a:avLst/>
          </a:prstGeom>
          <a:solidFill>
            <a:srgbClr val="555555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5577840"/>
            <a:ext cx="11612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模型輸出格式（Block Format）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007608"/>
            <a:ext cx="116128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007608"/>
            <a:ext cx="11612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E52"/>
                </a:solidFill>
              </a:rPr>
              <a:t>[ACTION] 對話  [TARGET] Amy  [CONTENT] 你今天好嗎  [THOUGHT] 我在意她的狀況  [HAM]  - Amy|感到|疲憊|咖啡廳|下午  [/HAM]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2147</Words>
  <Application>Microsoft Office PowerPoint</Application>
  <PresentationFormat>自訂</PresentationFormat>
  <Paragraphs>358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Ray</cp:lastModifiedBy>
  <cp:revision>3</cp:revision>
  <dcterms:created xsi:type="dcterms:W3CDTF">2013-01-27T09:14:16Z</dcterms:created>
  <dcterms:modified xsi:type="dcterms:W3CDTF">2026-05-12T15:24:54Z</dcterms:modified>
  <cp:category/>
</cp:coreProperties>
</file>