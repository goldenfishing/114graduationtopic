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對話系統（Dialogue Flow）— 接受/拒絕機率計算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6858000" cy="320040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對話接受機率公式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P_accept = base + relation_bonus + leisure_bonus + work_penalty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DIALOGUE_BASE_ACCEPT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11880" y="15544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= 0.50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</a:rPr>
              <a:t>基礎接受機率（任何人都有50%接受）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DIALOGUE_RELATION_BONUS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198424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= +0.30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9842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</a:rPr>
              <a:t>好感關係加成（認識的人）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41401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DIALOGUE_LEISURE_BONUS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41401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= +0.20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4140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</a:rPr>
              <a:t>休閒時間加成（不忙碌時）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84378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DIALOGUE_WORK_PENALTY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28437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= −0.30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8437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</a:rPr>
              <a:t>工作時間懲罰（忙碌中被打擾）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31927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</a:rPr>
              <a:t>DIALOGUE_MAX_TURNS = 10（每段對話最多10回合）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749808"/>
            <a:ext cx="4754880" cy="3200400"/>
          </a:xfrm>
          <a:prstGeom prst="rect">
            <a:avLst/>
          </a:prstGeom>
          <a:solidFill>
            <a:srgbClr val="FDCB6E">
              <a:alpha val="15000"/>
            </a:srgbClr>
          </a:solidFill>
          <a:ln w="19050">
            <a:solidFill>
              <a:srgbClr val="FDC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777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計算範例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1188720"/>
            <a:ext cx="4754880" cy="594360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12070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Ben找Amy（休閒，有好感）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0" y="1435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0.50 + 0.30 + 0.20 = 1.00  → 必然接受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1865376"/>
            <a:ext cx="4754880" cy="594360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18836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Ben找Amy（工作中，有好感）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0" y="21122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0.50 + 0.30 − 0.30 = 0.50  → 50%接受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06640" y="2542032"/>
            <a:ext cx="4754880" cy="594360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2560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陌生人找Amy（休閒）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98080" y="2788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0.50 + 0.00 + 0.20 = 0.70  → 70%接受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3218688"/>
            <a:ext cx="4754880" cy="594360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32369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陌生人找Amy（工作中）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34655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0.50 + 0.00 − 0.30 = 0.20  → 20%接受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069080"/>
            <a:ext cx="11795760" cy="256032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96512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對話執行流程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448056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① 發起方（agent A）Markov採樣得到「對話」→ target = 同地點角色B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480060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② 計算 P_accept，隨機決定 B 是否接受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512064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③ 接受：設定雙方 action_lock=2（不可中斷），對話session開始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544068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④ 每回合：A生成內容（Markov或deliberate）→ STM寫入 → B回應 → STM寫入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" y="576072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⑤ 達到 DIALOGUE_MAX_TURNS=10 或任一方主動結束 → 對話結束，action_lock清零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08076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⑥ 對話結束：reward += DIALOGUE_ACCEPT(+0.25)，寫入ValueTracker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完整模擬追蹤：Amy 第3天 08:30 一個完整 Tick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795760" cy="896112"/>
          </a:xfrm>
          <a:prstGeom prst="rect">
            <a:avLst/>
          </a:prstGeom>
          <a:solidFill>
            <a:srgbClr val="0F3460">
              <a:alpha val="8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8638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TICK 開始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時間：D3 08:30  角色：Amy  地點：咖啡廳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上一tick行動：整理店面  情緒：平靜  當前pending_action：None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00784"/>
            <a:ext cx="11795760" cy="1152144"/>
          </a:xfrm>
          <a:prstGeom prst="rect">
            <a:avLst/>
          </a:prstGeom>
          <a:solidFill>
            <a:srgbClr val="E17055">
              <a:alpha val="8000"/>
            </a:srgbClr>
          </a:solidFill>
          <a:ln w="19050">
            <a:solidFill>
              <a:srgbClr val="E17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7055"/>
                </a:solidFill>
              </a:rPr>
              <a:t>YOLO感知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4825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YOLO偵測：咖啡廳有1個客人、1個杯子、1個咖啡機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0428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yolo_desc更新 → "咖啡廳有1個客人、1個杯子、1個咖啡機"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interrupt_queue：無新事件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11795760" cy="640080"/>
          </a:xfrm>
          <a:prstGeom prst="rect">
            <a:avLst/>
          </a:prstGeom>
          <a:solidFill>
            <a:srgbClr val="00B894">
              <a:alpha val="8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4436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Phase 1 執行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25526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pending_action = None → 跳過Phase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11795760" cy="1664208"/>
          </a:xfrm>
          <a:prstGeom prst="rect">
            <a:avLst/>
          </a:prstGeom>
          <a:solidFill>
            <a:srgbClr val="E94560">
              <a:alpha val="8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39312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Phase 2 決策（困惑度計算）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95020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U=0.50（上tick賣咖啡0.55 vs 對話0.30，gap=0.25）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K=0.00（無衝突、無情緒關鍵字）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46227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S=0.00（無驚訝關鍵字，且已有LTM）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71830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C = 0.4×0.50 + 0.3×0.00 + 0.3×0.00 = 0.20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97433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情緒平靜 → 最終閾值=0.45    K&lt;0.5且C=0.20&lt;0.45 → intuitive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321808"/>
            <a:ext cx="11795760" cy="1664208"/>
          </a:xfrm>
          <a:prstGeom prst="rect">
            <a:avLst/>
          </a:prstGeom>
          <a:solidFill>
            <a:srgbClr val="6C5CE7">
              <a:alpha val="8000"/>
            </a:srgbClr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35838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</a:rPr>
              <a:t>Markov 機率計算（intuitive）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66928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α=0.40: sched→賣咖啡≈0.62  β=0.30: iner→賣咖啡≈0.45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92531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γ=0.30: situ→賣咖啡≈0.38（客人+咖啡機命中）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18134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合併：0.4×0.62+0.3×0.45+0.3×0.38 = 0.497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43737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睡覺：ts=-1.5→scale≈0.05，被壓制  正規化→賣咖啡≈0.507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69340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採樣結果：賣咖啡（機率最高，加權隨機採樣）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7040880"/>
            <a:ext cx="11795760" cy="1408176"/>
          </a:xfrm>
          <a:prstGeom prst="rect">
            <a:avLst/>
          </a:prstGeom>
          <a:solidFill>
            <a:srgbClr val="0F3460">
              <a:alpha val="8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707745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STM 寫入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738835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turn_id: D003_T005  time: "08:30"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764438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perception: {咖啡廳, "1客人1杯子1咖啡機", ""}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790041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event: {input:"", action:"賣咖啡", target:"", content:""}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815644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inner: {thought:"繼續工作，今天客人挺多", emotion:"平靜"}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8503920"/>
            <a:ext cx="11795760" cy="1152144"/>
          </a:xfrm>
          <a:prstGeom prst="rect">
            <a:avLst/>
          </a:prstGeom>
          <a:solidFill>
            <a:srgbClr val="00B894">
              <a:alpha val="8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854049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RL獎勵計算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885139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時間表命中賣咖啡 → reward += SCHEDULE_HIT(+0.20)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910742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情緒無變化 → 無情緒獎勵   C變化&lt;0.12 → 無困惑獎勵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936345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ValueTracker.update("賣咖啡", +0.20)  所有行動×VALUE_DECAY(0.85)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完整參數速查表（config/world_config.py + 各模組）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897880" cy="1828800"/>
          </a:xfrm>
          <a:prstGeom prst="rect">
            <a:avLst/>
          </a:prstGeom>
          <a:solidFill>
            <a:srgbClr val="6C5CE7">
              <a:alpha val="10000"/>
            </a:srgbClr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13816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</a:rPr>
              <a:t>STM / LTM 記憶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STM_SAFETY_LIMIT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34640" y="11612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</a:rPr>
              <a:t>50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60520" y="11612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STM超過觸發中途濃縮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STM_KEEP_AFTER_CONS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34640" y="1508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</a:rPr>
              <a:t>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60520" y="15087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睡眠後保留最近N筆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8562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LTM_DECAY_RATE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1856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</a:rPr>
              <a:t>0.05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18562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每天LTM衰減速率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2037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LTM_FORGET_THRESHOLD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4640" y="22037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</a:rPr>
              <a:t>0.2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22037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低於此值刪除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777240"/>
            <a:ext cx="5897880" cy="1481328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813816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HAM 擴散激活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1161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HAM_TRAVERSE_MAX_HOPS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78240" y="11612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04120" y="11612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BFS最大跳數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15087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HAM_ACTIVATION_DECAY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78240" y="1508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0.4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04120" y="15087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每跳激活衰減率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18562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HAM_RETRIEVE_THRESHOLD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78240" y="1856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0.3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104120" y="18562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激活值低於此不取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090672"/>
            <a:ext cx="5897880" cy="2176272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27248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Markov 引擎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4747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MARKOV_WEIGHTS_NORMAL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834640" y="34747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</a:rPr>
              <a:t>α:0.4 β:0.3 γ:0.3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34747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正常模式（δ另計）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38221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MARKOV_WEIGHTS_EVENT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34640" y="38221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</a:rPr>
              <a:t>α:0.1 β:0.3 γ:0.6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60520" y="382219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K≥0.6時事件模式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1696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MAJOR_EVENT_K_THRESHOLD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834640" y="4169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</a:rPr>
              <a:t>0.60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60520" y="41696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切換事件權重的K門檻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5171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MIN_PROB_FLOOR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834640" y="451713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</a:rPr>
              <a:t>0.005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60520" y="45171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每行動最低機率保底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48646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KEYWORD_BOOST_PER_HIT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834640" y="486460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</a:rPr>
              <a:t>0.15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60520" y="48646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情境關鍵字每命中加分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09360" y="3785616"/>
            <a:ext cx="5897880" cy="2871216"/>
          </a:xfrm>
          <a:prstGeom prst="rect">
            <a:avLst/>
          </a:prstGeom>
          <a:solidFill>
            <a:srgbClr val="E17055">
              <a:alpha val="10000"/>
            </a:srgbClr>
          </a:solidFill>
          <a:ln w="19050">
            <a:solidFill>
              <a:srgbClr val="E170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3822192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7055"/>
                </a:solidFill>
              </a:rPr>
              <a:t>RL 價值追蹤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46520" y="41696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VALUE_DECAY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778240" y="4169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7055"/>
                </a:solidFill>
              </a:rPr>
              <a:t>0.85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104120" y="41696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每tick衰減係數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46520" y="45171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REWARD_EMOTION_IMPROVE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778240" y="451713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7055"/>
                </a:solidFill>
              </a:rPr>
              <a:t>+0.50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104120" y="45171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情緒改善獎勵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46520" y="48646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REWARD_EMOTION_WORSEN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78240" y="486460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7055"/>
                </a:solidFill>
              </a:rPr>
              <a:t>−0.45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104120" y="48646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情緒惡化懲罰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46520" y="52120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REWARD_CONFUSION_DROP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778240" y="521208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7055"/>
                </a:solidFill>
              </a:rPr>
              <a:t>+0.30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104120" y="52120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C下降≥0.12獎勵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46520" y="555955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REWARD_CONFUSION_SPIKE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778240" y="55595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7055"/>
                </a:solidFill>
              </a:rPr>
              <a:t>−0.35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104120" y="55595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C上升≥0.15懲罰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46520" y="59070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REWARD_DIALOGUE_ACCEPT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778240" y="590702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7055"/>
                </a:solidFill>
              </a:rPr>
              <a:t>+0.25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104120" y="59070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對話接受獎勵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46520" y="625449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REWARD_SCHEDULE_HIT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778240" y="625449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7055"/>
                </a:solidFill>
              </a:rPr>
              <a:t>+0.20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0104120" y="62544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時間表命中獎勵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014216"/>
            <a:ext cx="5897880" cy="1481328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050792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困惑度 / 模式切換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02920" y="43982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C公式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2834640" y="43982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w1·U+w2·K+w3·S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160520" y="43982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w1=0.4 w2=0.3 w3=0.3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02920" y="47457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DELIBERATE_K_OVERRIDE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2834640" y="474573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0.5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160520" y="47457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K≥此值強制deliberate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02920" y="50932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</a:rPr>
              <a:t>EMOTION_RESET_THRESHOLD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2834640" y="509320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0.5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160520" y="50932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K峰值≥此才推斷情緒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角色設定表 — 5位角色的認知參數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37160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角色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04672"/>
            <a:ext cx="137160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職業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804672"/>
            <a:ext cx="137160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困惑閾值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804672"/>
            <a:ext cx="347472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情緒對閾值影響範例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804672"/>
            <a:ext cx="384048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特殊設定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11795760" cy="868680"/>
          </a:xfrm>
          <a:prstGeom prst="rect">
            <a:avLst/>
          </a:prstGeom>
          <a:solidFill>
            <a:srgbClr val="E94560">
              <a:alpha val="8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07592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Amy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149047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咖啡師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353312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</a:rPr>
              <a:t>0.45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15179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平靜→0.45  緊張→0.55  難過→0.60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14904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暗戀David，被Ben追求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11795760" cy="868680"/>
          </a:xfrm>
          <a:prstGeom prst="rect">
            <a:avLst/>
          </a:prstGeom>
          <a:solidFill>
            <a:srgbClr val="00B894">
              <a:alpha val="8000"/>
            </a:srgbClr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58568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94"/>
                </a:solidFill>
              </a:rPr>
              <a:t>Ben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24414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超市員工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30428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894"/>
                </a:solidFill>
              </a:rPr>
              <a:t>0.60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80560" y="2468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平靜→0.60  緊張→0.70  難過→0.75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24414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喜歡Amy，容易直覺行動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63824"/>
            <a:ext cx="11795760" cy="868680"/>
          </a:xfrm>
          <a:prstGeom prst="rect">
            <a:avLst/>
          </a:prstGeom>
          <a:solidFill>
            <a:srgbClr val="6C5CE7">
              <a:alpha val="8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09544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5CE7"/>
                </a:solidFill>
              </a:rPr>
              <a:t>Claire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20240" y="339242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學生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3255264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5CE7"/>
                </a:solidFill>
              </a:rPr>
              <a:t>0.35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480560" y="34198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平靜→0.35  緊張→0.45  難過→0.50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33924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愛讀書，最容易觸發deliberate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11795760" cy="868680"/>
          </a:xfrm>
          <a:prstGeom prst="rect">
            <a:avLst/>
          </a:prstGeom>
          <a:solidFill>
            <a:srgbClr val="E17055">
              <a:alpha val="8000"/>
            </a:srgbClr>
          </a:solidFill>
          <a:ln w="12700">
            <a:solidFill>
              <a:srgbClr val="E170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605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7055"/>
                </a:solidFill>
              </a:rPr>
              <a:t>David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20240" y="43434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畫家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08960" y="42062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7055"/>
                </a:solidFill>
              </a:rPr>
              <a:t>0.55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480560" y="43708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平靜→0.55  緊張→0.65  難過→0.70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38160" y="4343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感性，不知Amy暗戀他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5065776"/>
            <a:ext cx="11795760" cy="868680"/>
          </a:xfrm>
          <a:prstGeom prst="rect">
            <a:avLst/>
          </a:prstGeom>
          <a:solidFill>
            <a:srgbClr val="0F3460">
              <a:alpha val="8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111496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</a:rPr>
              <a:t>Emma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920240" y="529437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老師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108960" y="5157216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3460"/>
                </a:solidFill>
              </a:rPr>
              <a:t>0.50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480560" y="53218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平靜→0.50  緊張→0.60  難過→0.65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38160" y="529437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理性，平衡直覺與深思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6035040"/>
            <a:ext cx="1179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E72"/>
                </a:solidFill>
              </a:rPr>
              <a:t>所有角色情緒基線：「平靜」（BASELINE_EMOTION = "平靜"）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36E72"/>
                </a:solidFill>
              </a:rPr>
              <a:t>觸發情緒更新：當天K值峰值 ≥ EMOTION_RESET_THRESHOLD(0.5) → 呼叫模型推斷新情緒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AI-Town 系統總結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749040" cy="1645920"/>
          </a:xfrm>
          <a:prstGeom prst="rect">
            <a:avLst/>
          </a:prstGeom>
          <a:solidFill>
            <a:srgbClr val="E17055">
              <a:alpha val="20000"/>
            </a:srgbClr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247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7055"/>
                </a:solidFill>
              </a:rPr>
              <a:t>感知層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YOLO → yolo_desc → interrupt_queue → action_lock（0/1/2）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0" y="1051560"/>
            <a:ext cx="3749040" cy="1645920"/>
          </a:xfrm>
          <a:prstGeom prst="rect">
            <a:avLst/>
          </a:prstGeom>
          <a:solidFill>
            <a:srgbClr val="E94560">
              <a:alpha val="20000"/>
            </a:srgb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1247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困惑度閘門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5087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C=w1U+w2K+w3S → intuitive(Markov) 或 deliberate(Phi-3.5)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0" y="1051560"/>
            <a:ext cx="3749040" cy="1645920"/>
          </a:xfrm>
          <a:prstGeom prst="rect">
            <a:avLst/>
          </a:prstGeom>
          <a:solidFill>
            <a:srgbClr val="00B894">
              <a:alpha val="20000"/>
            </a:srgbClr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1247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</a:rPr>
              <a:t>Markov引擎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21040" y="15087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4來源加權（α時間表+β慣性+γ情境+δRL） → softmax → 保底 → 採樣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3749040" cy="1645920"/>
          </a:xfrm>
          <a:prstGeom prst="rect">
            <a:avLst/>
          </a:prstGeom>
          <a:solidFill>
            <a:srgbClr val="E17055">
              <a:alpha val="20000"/>
            </a:srgbClr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7055"/>
                </a:solidFill>
              </a:rPr>
              <a:t>RL價值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每tick衰減0.85 + 7種reward signal → Q值指導delta分支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834640"/>
            <a:ext cx="3749040" cy="1645920"/>
          </a:xfrm>
          <a:prstGeom prst="rect">
            <a:avLst/>
          </a:prstGeom>
          <a:solidFill>
            <a:srgbClr val="FDCB6E">
              <a:alpha val="20000"/>
            </a:srgbClr>
          </a:solidFill>
          <a:ln w="25400">
            <a:solidFill>
              <a:srgbClr val="FDCB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</a:rPr>
              <a:t>Weight Adapter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32918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每天SGD(LR=0.05)更新α/β/γ/δ → clip[0.05,0.85] → 正規化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2834640"/>
            <a:ext cx="3749040" cy="1645920"/>
          </a:xfrm>
          <a:prstGeom prst="rect">
            <a:avLst/>
          </a:prstGeom>
          <a:solidFill>
            <a:srgbClr val="6C5CE7">
              <a:alpha val="20000"/>
            </a:srgbClr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</a:rPr>
              <a:t>STM（短期）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32918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三層情節記憶（perception/event/inner） → 安全閥50 → 睡眠縮減保留5筆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3749040" cy="1645920"/>
          </a:xfrm>
          <a:prstGeom prst="rect">
            <a:avLst/>
          </a:prstGeom>
          <a:solidFill>
            <a:srgbClr val="6C5CE7">
              <a:alpha val="20000"/>
            </a:srgbClr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90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</a:rPr>
              <a:t>LTM（長期）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50749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HAM 5元組 → 每天衰減 0.05/(1+ac×0.5) → 提取強化 → 低於0.2刪除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4617720"/>
            <a:ext cx="3749040" cy="1645920"/>
          </a:xfrm>
          <a:prstGeom prst="rect">
            <a:avLst/>
          </a:prstGeom>
          <a:solidFill>
            <a:srgbClr val="0F3460">
              <a:alpha val="20000"/>
            </a:srgbClr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4690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</a:rPr>
              <a:t>擴散激活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50749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BFS 2跳，激活0.4^(hop-1)，門檻0.3，top20 → 組自然語言 → 注入deliberate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4617720"/>
            <a:ext cx="3749040" cy="1645920"/>
          </a:xfrm>
          <a:prstGeom prst="rect">
            <a:avLst/>
          </a:prstGeom>
          <a:solidFill>
            <a:srgbClr val="00B894">
              <a:alpha val="20000"/>
            </a:srgbClr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690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</a:rPr>
              <a:t>睡眠鞏固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21040" y="50749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12步驟：STM→HAM→LTM→摘要→關係→情緒→時間表→衰減→縮減→更新權重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4465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BEC3"/>
                </a:solidFill>
              </a:rPr>
              <a:t>理論模型：Kahneman雙歷程 × Tulving情節/語意 × Anderson HAM × Anderson擴散激活 × Diekelmann睡眠鞏固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2026-05-19T12:09:29Z</dcterms:created>
  <dcterms:modified xsi:type="dcterms:W3CDTF">2026-05-19T12:09:29Z</dcterms:modified>
</cp:coreProperties>
</file>